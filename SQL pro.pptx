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69" r:id="rId5"/>
    <p:sldId id="268" r:id="rId6"/>
    <p:sldId id="263" r:id="rId7"/>
    <p:sldId id="270" r:id="rId8"/>
    <p:sldId id="285" r:id="rId9"/>
    <p:sldId id="267" r:id="rId10"/>
    <p:sldId id="265" r:id="rId11"/>
    <p:sldId id="279" r:id="rId12"/>
    <p:sldId id="264" r:id="rId13"/>
    <p:sldId id="282" r:id="rId14"/>
    <p:sldId id="280" r:id="rId15"/>
    <p:sldId id="278" r:id="rId16"/>
    <p:sldId id="274" r:id="rId17"/>
    <p:sldId id="275" r:id="rId18"/>
    <p:sldId id="276" r:id="rId19"/>
    <p:sldId id="261" r:id="rId20"/>
    <p:sldId id="260" r:id="rId21"/>
    <p:sldId id="286" r:id="rId22"/>
    <p:sldId id="288" r:id="rId23"/>
    <p:sldId id="289" r:id="rId24"/>
    <p:sldId id="284" r:id="rId25"/>
    <p:sldId id="283" r:id="rId26"/>
    <p:sldId id="259" r:id="rId27"/>
  </p:sldIdLst>
  <p:sldSz cx="12192000" cy="6858000"/>
  <p:notesSz cx="6858000" cy="9144000"/>
  <p:embeddedFontLst>
    <p:embeddedFont>
      <p:font typeface="Comic Sans MS" panose="030F0702030302020204" pitchFamily="66" charset="0"/>
      <p:regular r:id="rId29"/>
      <p:bold r:id="rId30"/>
      <p:italic r:id="rId31"/>
      <p:boldItalic r:id="rId32"/>
    </p:embeddedFont>
    <p:embeddedFont>
      <p:font typeface="Lato Black" panose="020F0502020204030203" pitchFamily="34" charset="0"/>
      <p:bold r:id="rId33"/>
      <p:boldItalic r:id="rId34"/>
    </p:embeddedFont>
    <p:embeddedFont>
      <p:font typeface="Libre Baskerville" panose="02000000000000000000" pitchFamily="2" charset="0"/>
      <p:regular r:id="rId35"/>
      <p:bold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01"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8293652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689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3438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6701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5146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3288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8427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13122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5526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9532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5936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3.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3.xml"/><Relationship Id="rId5" Type="http://schemas.openxmlformats.org/officeDocument/2006/relationships/image" Target="../media/image20.jpg"/><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1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3.xml"/><Relationship Id="rId5" Type="http://schemas.openxmlformats.org/officeDocument/2006/relationships/image" Target="../media/image32.jpg"/><Relationship Id="rId4" Type="http://schemas.openxmlformats.org/officeDocument/2006/relationships/image" Target="../media/image31.jpg"/></Relationships>
</file>

<file path=ppt/slides/_rels/slide1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3.xml"/><Relationship Id="rId5" Type="http://schemas.openxmlformats.org/officeDocument/2006/relationships/image" Target="../media/image40.jpg"/><Relationship Id="rId4" Type="http://schemas.openxmlformats.org/officeDocument/2006/relationships/image" Target="../media/image39.jpg"/></Relationships>
</file>

<file path=ppt/slides/_rels/slide1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44.jpg"/><Relationship Id="rId5" Type="http://schemas.openxmlformats.org/officeDocument/2006/relationships/image" Target="../media/image43.jpg"/><Relationship Id="rId4" Type="http://schemas.openxmlformats.org/officeDocument/2006/relationships/image" Target="../media/image42.jpg"/></Relationships>
</file>

<file path=ppt/slides/_rels/slide2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48.jpg"/><Relationship Id="rId5" Type="http://schemas.openxmlformats.org/officeDocument/2006/relationships/image" Target="../media/image47.jpg"/><Relationship Id="rId4" Type="http://schemas.openxmlformats.org/officeDocument/2006/relationships/image" Target="../media/image46.jpg"/></Relationships>
</file>

<file path=ppt/slides/_rels/slide21.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3.xml"/><Relationship Id="rId5" Type="http://schemas.openxmlformats.org/officeDocument/2006/relationships/image" Target="../media/image52.jpg"/><Relationship Id="rId4" Type="http://schemas.openxmlformats.org/officeDocument/2006/relationships/image" Target="../media/image51.jpg"/></Relationships>
</file>

<file path=ppt/slides/_rels/slide22.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image" Target="../media/image55.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1905745" y="3636903"/>
            <a:ext cx="8604068" cy="1384954"/>
          </a:xfrm>
          <a:prstGeom prst="rect">
            <a:avLst/>
          </a:prstGeom>
          <a:noFill/>
          <a:ln>
            <a:noFill/>
          </a:ln>
        </p:spPr>
        <p:txBody>
          <a:bodyPr spcFirstLastPara="1" wrap="square" lIns="91425" tIns="45700" rIns="91425" bIns="45700" anchor="t" anchorCtr="0">
            <a:spAutoFit/>
          </a:bodyPr>
          <a:lstStyle/>
          <a:p>
            <a:pPr algn="ctr"/>
            <a:r>
              <a:rPr lang="en-US" sz="3200" b="1" dirty="0">
                <a:latin typeface="Comic Sans MS" panose="030F0702030302020204" pitchFamily="66" charset="0"/>
                <a:cs typeface="Times New Roman" panose="02020603050405020304" pitchFamily="18" charset="0"/>
              </a:rPr>
              <a:t>GROCERY STORE MANAGEMENT</a:t>
            </a:r>
            <a:r>
              <a:rPr lang="en-IN" sz="3600" dirty="0"/>
              <a:t>🛒</a:t>
            </a:r>
            <a:r>
              <a:rPr lang="en-US" sz="3200" b="1" dirty="0">
                <a:latin typeface="Comic Sans MS" panose="030F0702030302020204" pitchFamily="66" charset="0"/>
                <a:cs typeface="Times New Roman" panose="02020603050405020304" pitchFamily="18" charset="0"/>
              </a:rPr>
              <a:t> </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775A42D-3499-6DD3-9717-307CD2C3BD3D}"/>
              </a:ext>
            </a:extLst>
          </p:cNvPr>
          <p:cNvSpPr txBox="1"/>
          <p:nvPr/>
        </p:nvSpPr>
        <p:spPr>
          <a:xfrm>
            <a:off x="219919" y="5493769"/>
            <a:ext cx="3541853" cy="1200329"/>
          </a:xfrm>
          <a:prstGeom prst="rect">
            <a:avLst/>
          </a:prstGeom>
          <a:noFill/>
        </p:spPr>
        <p:txBody>
          <a:bodyPr wrap="square" rtlCol="0">
            <a:spAutoFit/>
          </a:bodyPr>
          <a:lstStyle/>
          <a:p>
            <a:r>
              <a:rPr lang="en-GB" sz="1800" dirty="0">
                <a:latin typeface="Comic Sans MS" panose="030F0702030302020204" pitchFamily="66" charset="0"/>
              </a:rPr>
              <a:t>By -</a:t>
            </a:r>
          </a:p>
          <a:p>
            <a:r>
              <a:rPr lang="en-GB" sz="1800" dirty="0" err="1">
                <a:latin typeface="Comic Sans MS" panose="030F0702030302020204" pitchFamily="66" charset="0"/>
              </a:rPr>
              <a:t>Mamta.Nagayya.Muppavarapu</a:t>
            </a:r>
            <a:endParaRPr lang="en-GB" sz="1800" dirty="0">
              <a:latin typeface="Comic Sans MS" panose="030F0702030302020204" pitchFamily="66" charset="0"/>
            </a:endParaRPr>
          </a:p>
          <a:p>
            <a:r>
              <a:rPr lang="en-GB" sz="1800" dirty="0">
                <a:latin typeface="Comic Sans MS" panose="030F0702030302020204" pitchFamily="66" charset="0"/>
              </a:rPr>
              <a:t>Amrutha </a:t>
            </a:r>
            <a:r>
              <a:rPr lang="en-GB" sz="1800" dirty="0" err="1">
                <a:latin typeface="Comic Sans MS" panose="030F0702030302020204" pitchFamily="66" charset="0"/>
              </a:rPr>
              <a:t>Sai.Yarragodala</a:t>
            </a:r>
            <a:endParaRPr lang="en-GB" sz="1800" dirty="0">
              <a:latin typeface="Comic Sans MS" panose="030F0702030302020204" pitchFamily="66" charset="0"/>
            </a:endParaRPr>
          </a:p>
          <a:p>
            <a:r>
              <a:rPr lang="en-IN" sz="1800" dirty="0" err="1">
                <a:latin typeface="Comic Sans MS" panose="030F0702030302020204" pitchFamily="66" charset="0"/>
              </a:rPr>
              <a:t>T.Lakshmi</a:t>
            </a:r>
            <a:r>
              <a:rPr lang="en-IN" sz="1800" dirty="0">
                <a:latin typeface="Comic Sans MS" panose="030F0702030302020204" pitchFamily="66" charset="0"/>
              </a:rPr>
              <a:t> Hari Chandana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427656" y="1290028"/>
            <a:ext cx="7007400" cy="461624"/>
          </a:xfrm>
          <a:prstGeom prst="rect">
            <a:avLst/>
          </a:prstGeom>
          <a:noFill/>
          <a:ln>
            <a:noFill/>
          </a:ln>
        </p:spPr>
        <p:txBody>
          <a:bodyPr spcFirstLastPara="1" wrap="square" lIns="91425" tIns="45700" rIns="91425" bIns="45700" anchor="t" anchorCtr="0">
            <a:spAutoFit/>
          </a:bodyPr>
          <a:lstStyle/>
          <a:p>
            <a:r>
              <a:rPr lang="en-US" sz="2400" b="1" dirty="0">
                <a:latin typeface="Times New Roman" panose="02020603050405020304" pitchFamily="18" charset="0"/>
                <a:cs typeface="Times New Roman" panose="02020603050405020304" pitchFamily="18" charset="0"/>
              </a:rPr>
              <a:t>Why Data Science</a:t>
            </a: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a:solidFill>
                  <a:srgbClr val="FF0000"/>
                </a:solidFill>
                <a:latin typeface="Lato Black"/>
                <a:ea typeface="Lato Black"/>
                <a:cs typeface="Lato Black"/>
                <a:sym typeface="Lato Black"/>
              </a:rPr>
              <a:t>About me</a:t>
            </a:r>
            <a:endParaRPr sz="1800" b="0" i="0" u="none" strike="noStrike" cap="none">
              <a:solidFill>
                <a:srgbClr val="FF0000"/>
              </a:solidFill>
              <a:latin typeface="Calibri"/>
              <a:ea typeface="Calibri"/>
              <a:cs typeface="Calibri"/>
              <a:sym typeface="Calibri"/>
            </a:endParaRPr>
          </a:p>
        </p:txBody>
      </p:sp>
      <p:sp>
        <p:nvSpPr>
          <p:cNvPr id="2" name="TextBox 1"/>
          <p:cNvSpPr txBox="1"/>
          <p:nvPr/>
        </p:nvSpPr>
        <p:spPr>
          <a:xfrm>
            <a:off x="427656" y="2129221"/>
            <a:ext cx="10424160" cy="1938992"/>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Data Science is a fast-growing, high-demand field that turns raw data into meaningful insights, smarter decisions, and intelligent automation. For those who enjoy problem-solving, coding, and finding patterns, it provides a chance to build impactful, future-proof careers in a data-driven world.</a:t>
            </a:r>
          </a:p>
          <a:p>
            <a:pPr algn="just"/>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3" name="Rectangle 2"/>
          <p:cNvSpPr/>
          <p:nvPr/>
        </p:nvSpPr>
        <p:spPr>
          <a:xfrm>
            <a:off x="428006" y="416296"/>
            <a:ext cx="4993675" cy="535531"/>
          </a:xfrm>
          <a:prstGeom prst="rect">
            <a:avLst/>
          </a:prstGeom>
        </p:spPr>
        <p:txBody>
          <a:bodyPr wrap="none">
            <a:spAutoFit/>
          </a:bodyPr>
          <a:lstStyle/>
          <a:p>
            <a:pPr lvl="0">
              <a:lnSpc>
                <a:spcPct val="80000"/>
              </a:lnSpc>
              <a:buClr>
                <a:srgbClr val="FF0000"/>
              </a:buClr>
              <a:buSzPts val="3200"/>
            </a:pPr>
            <a:r>
              <a:rPr lang="en-IN" sz="3600" b="1" dirty="0">
                <a:solidFill>
                  <a:srgbClr val="FF0000"/>
                </a:solidFill>
                <a:latin typeface="Times New Roman" panose="02020603050405020304" pitchFamily="18" charset="0"/>
                <a:ea typeface="Lato Black"/>
                <a:cs typeface="Times New Roman" panose="02020603050405020304" pitchFamily="18" charset="0"/>
                <a:sym typeface="Lato Black"/>
              </a:rPr>
              <a:t>Objective Of the Project</a:t>
            </a:r>
            <a:endParaRPr lang="en-IN" sz="3600" b="1"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4" name="Rectangle 3"/>
          <p:cNvSpPr/>
          <p:nvPr/>
        </p:nvSpPr>
        <p:spPr>
          <a:xfrm>
            <a:off x="428006" y="1099595"/>
            <a:ext cx="10389346" cy="5115311"/>
          </a:xfrm>
          <a:prstGeom prst="rect">
            <a:avLst/>
          </a:prstGeom>
        </p:spPr>
        <p:txBody>
          <a:bodyPr wrap="square">
            <a:spAutoFit/>
          </a:bodyPr>
          <a:lstStyle/>
          <a:p>
            <a:pPr>
              <a:lnSpc>
                <a:spcPct val="150000"/>
              </a:lnSpc>
            </a:pPr>
            <a:r>
              <a:rPr lang="en-GB" sz="2000" dirty="0">
                <a:latin typeface="Times New Roman" panose="02020603050405020304" pitchFamily="18" charset="0"/>
                <a:cs typeface="Times New Roman" panose="02020603050405020304" pitchFamily="18" charset="0"/>
              </a:rPr>
              <a:t>The objective of this project is to </a:t>
            </a:r>
            <a:r>
              <a:rPr lang="en-GB" sz="2000" dirty="0" err="1">
                <a:latin typeface="Times New Roman" panose="02020603050405020304" pitchFamily="18" charset="0"/>
                <a:cs typeface="Times New Roman" panose="02020603050405020304" pitchFamily="18" charset="0"/>
              </a:rPr>
              <a:t>analyze</a:t>
            </a:r>
            <a:r>
              <a:rPr lang="en-GB" sz="2000" dirty="0">
                <a:latin typeface="Times New Roman" panose="02020603050405020304" pitchFamily="18" charset="0"/>
                <a:cs typeface="Times New Roman" panose="02020603050405020304" pitchFamily="18" charset="0"/>
              </a:rPr>
              <a:t>, organize, and manage grocery store data efficiently, focusing on products, inventory levels, suppliers, sales, and customer transactions. By examining these elements, the project aims to identify patterns in product demand, sales performance, stock movement, and supplier reliability. This analysis helps users understand the real-world relationship between inventory management, customer buying </a:t>
            </a:r>
            <a:r>
              <a:rPr lang="en-GB" sz="2000" dirty="0" err="1">
                <a:latin typeface="Times New Roman" panose="02020603050405020304" pitchFamily="18" charset="0"/>
                <a:cs typeface="Times New Roman" panose="02020603050405020304" pitchFamily="18" charset="0"/>
              </a:rPr>
              <a:t>behavior</a:t>
            </a:r>
            <a:r>
              <a:rPr lang="en-GB" sz="2000" dirty="0">
                <a:latin typeface="Times New Roman" panose="02020603050405020304" pitchFamily="18" charset="0"/>
                <a:cs typeface="Times New Roman" panose="02020603050405020304" pitchFamily="18" charset="0"/>
              </a:rPr>
              <a:t>, and overall store </a:t>
            </a:r>
            <a:r>
              <a:rPr lang="en-GB" sz="2000" dirty="0" err="1">
                <a:latin typeface="Times New Roman" panose="02020603050405020304" pitchFamily="18" charset="0"/>
                <a:cs typeface="Times New Roman" panose="02020603050405020304" pitchFamily="18" charset="0"/>
              </a:rPr>
              <a:t>performance.Through</a:t>
            </a:r>
            <a:r>
              <a:rPr lang="en-GB" sz="2000" dirty="0">
                <a:latin typeface="Times New Roman" panose="02020603050405020304" pitchFamily="18" charset="0"/>
                <a:cs typeface="Times New Roman" panose="02020603050405020304" pitchFamily="18" charset="0"/>
              </a:rPr>
              <a:t> this system, we can observe trends such as which products sell the most, how frequently items need restocking, and which categories contribute the highest revenue. By examining metrics like stock-to-sales ratio, reorder levels, and daily sales volume, the study highlights fast-moving products, slow-moving inventory, and potential gaps in supply. These insights help improve inventory control, reduce wastage, enhance customer satisfaction, and support better decision-making for store management.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6796" y="93407"/>
            <a:ext cx="608990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ER Diagram</a:t>
            </a:r>
          </a:p>
        </p:txBody>
      </p:sp>
      <p:pic>
        <p:nvPicPr>
          <p:cNvPr id="3" name="Picture 2">
            <a:extLst>
              <a:ext uri="{FF2B5EF4-FFF2-40B4-BE49-F238E27FC236}">
                <a16:creationId xmlns:a16="http://schemas.microsoft.com/office/drawing/2014/main" id="{7BD5A704-D7E9-5162-7498-AA1D6E5E20A9}"/>
              </a:ext>
            </a:extLst>
          </p:cNvPr>
          <p:cNvPicPr>
            <a:picLocks noChangeAspect="1"/>
          </p:cNvPicPr>
          <p:nvPr/>
        </p:nvPicPr>
        <p:blipFill>
          <a:blip r:embed="rId2"/>
          <a:stretch>
            <a:fillRect/>
          </a:stretch>
        </p:blipFill>
        <p:spPr>
          <a:xfrm>
            <a:off x="865238" y="655919"/>
            <a:ext cx="9920749" cy="583336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53931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3504" y="265176"/>
            <a:ext cx="563270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About Schema</a:t>
            </a:r>
          </a:p>
        </p:txBody>
      </p:sp>
      <p:sp>
        <p:nvSpPr>
          <p:cNvPr id="6" name="Rectangle 5"/>
          <p:cNvSpPr/>
          <p:nvPr/>
        </p:nvSpPr>
        <p:spPr>
          <a:xfrm>
            <a:off x="603504" y="1194947"/>
            <a:ext cx="10704962" cy="4093428"/>
          </a:xfrm>
          <a:prstGeom prst="rect">
            <a:avLst/>
          </a:prstGeom>
        </p:spPr>
        <p:txBody>
          <a:bodyPr wrap="square">
            <a:spAutoFit/>
          </a:bodyPr>
          <a:lstStyle/>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a:t>
            </a:r>
            <a:r>
              <a:rPr lang="en-GB" sz="2000" dirty="0" err="1">
                <a:latin typeface="Times New Roman" panose="02020603050405020304" pitchFamily="18" charset="0"/>
                <a:cs typeface="Times New Roman" panose="02020603050405020304" pitchFamily="18" charset="0"/>
              </a:rPr>
              <a:t>GroceryDB</a:t>
            </a:r>
            <a:r>
              <a:rPr lang="en-GB" sz="2000" dirty="0">
                <a:latin typeface="Times New Roman" panose="02020603050405020304" pitchFamily="18" charset="0"/>
                <a:cs typeface="Times New Roman" panose="02020603050405020304" pitchFamily="18" charset="0"/>
              </a:rPr>
              <a:t> database is designed to store and manage all information related to grocery items, sales, suppliers, and customers.</a:t>
            </a:r>
          </a:p>
          <a:p>
            <a:endParaRPr lang="en-GB"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 It contains six main </a:t>
            </a:r>
            <a:r>
              <a:rPr lang="en-GB" sz="2000" dirty="0" err="1">
                <a:latin typeface="Times New Roman" panose="02020603050405020304" pitchFamily="18" charset="0"/>
                <a:cs typeface="Times New Roman" panose="02020603050405020304" pitchFamily="18" charset="0"/>
              </a:rPr>
              <a:t>tables:products</a:t>
            </a:r>
            <a:r>
              <a:rPr lang="en-GB" sz="2000" dirty="0">
                <a:latin typeface="Times New Roman" panose="02020603050405020304" pitchFamily="18" charset="0"/>
                <a:cs typeface="Times New Roman" panose="02020603050405020304" pitchFamily="18" charset="0"/>
              </a:rPr>
              <a:t> holds details of each grocery item such as name, category, price, and stock </a:t>
            </a:r>
            <a:r>
              <a:rPr lang="en-GB" sz="2000" dirty="0" err="1">
                <a:latin typeface="Times New Roman" panose="02020603050405020304" pitchFamily="18" charset="0"/>
                <a:cs typeface="Times New Roman" panose="02020603050405020304" pitchFamily="18" charset="0"/>
              </a:rPr>
              <a:t>level.suppliers</a:t>
            </a:r>
            <a:r>
              <a:rPr lang="en-GB" sz="2000" dirty="0">
                <a:latin typeface="Times New Roman" panose="02020603050405020304" pitchFamily="18" charset="0"/>
                <a:cs typeface="Times New Roman" panose="02020603050405020304" pitchFamily="18" charset="0"/>
              </a:rPr>
              <a:t> stores supplier information, including supplier ID, name, and contact </a:t>
            </a:r>
            <a:r>
              <a:rPr lang="en-GB" sz="2000" dirty="0" err="1">
                <a:latin typeface="Times New Roman" panose="02020603050405020304" pitchFamily="18" charset="0"/>
                <a:cs typeface="Times New Roman" panose="02020603050405020304" pitchFamily="18" charset="0"/>
              </a:rPr>
              <a:t>details.customers</a:t>
            </a:r>
            <a:r>
              <a:rPr lang="en-GB" sz="2000" dirty="0">
                <a:latin typeface="Times New Roman" panose="02020603050405020304" pitchFamily="18" charset="0"/>
                <a:cs typeface="Times New Roman" panose="02020603050405020304" pitchFamily="18" charset="0"/>
              </a:rPr>
              <a:t> keeps customer details for billing and loyalty tracking.</a:t>
            </a: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sales records every sale transaction with product, customer, quantity, date, and total amount.</a:t>
            </a:r>
          </a:p>
          <a:p>
            <a:r>
              <a:rPr lang="en-GB" sz="2000" dirty="0" err="1">
                <a:latin typeface="Times New Roman" panose="02020603050405020304" pitchFamily="18" charset="0"/>
                <a:cs typeface="Times New Roman" panose="02020603050405020304" pitchFamily="18" charset="0"/>
              </a:rPr>
              <a:t>purchase_orders</a:t>
            </a:r>
            <a:r>
              <a:rPr lang="en-GB" sz="2000" dirty="0">
                <a:latin typeface="Times New Roman" panose="02020603050405020304" pitchFamily="18" charset="0"/>
                <a:cs typeface="Times New Roman" panose="02020603050405020304" pitchFamily="18" charset="0"/>
              </a:rPr>
              <a:t> tracks items ordered from suppliers to restock inventory.</a:t>
            </a: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categories stores all product categories like fruits, vegetables, dairy, and grains.</a:t>
            </a: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All transactional tables like sales and </a:t>
            </a:r>
            <a:r>
              <a:rPr lang="en-GB" sz="2000" dirty="0" err="1">
                <a:latin typeface="Times New Roman" panose="02020603050405020304" pitchFamily="18" charset="0"/>
                <a:cs typeface="Times New Roman" panose="02020603050405020304" pitchFamily="18" charset="0"/>
              </a:rPr>
              <a:t>purchase_orders</a:t>
            </a:r>
            <a:r>
              <a:rPr lang="en-GB" sz="2000" dirty="0">
                <a:latin typeface="Times New Roman" panose="02020603050405020304" pitchFamily="18" charset="0"/>
                <a:cs typeface="Times New Roman" panose="02020603050405020304" pitchFamily="18" charset="0"/>
              </a:rPr>
              <a:t> reference products, customers, or suppliers to maintain consistency.</a:t>
            </a:r>
          </a:p>
          <a:p>
            <a:pPr marL="342900" indent="-34290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This relational structure helps in managing inventory, tracking sales, improving restocking decisions, and maintaining accurate supplier and customer information.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8505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2" name="TextBox 1"/>
          <p:cNvSpPr txBox="1"/>
          <p:nvPr/>
        </p:nvSpPr>
        <p:spPr>
          <a:xfrm>
            <a:off x="5248656" y="256032"/>
            <a:ext cx="29718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Tables</a:t>
            </a:r>
          </a:p>
        </p:txBody>
      </p:sp>
      <p:sp>
        <p:nvSpPr>
          <p:cNvPr id="3" name="TextBox 2"/>
          <p:cNvSpPr txBox="1"/>
          <p:nvPr/>
        </p:nvSpPr>
        <p:spPr>
          <a:xfrm>
            <a:off x="722376" y="1115568"/>
            <a:ext cx="343814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Order details</a:t>
            </a:r>
          </a:p>
        </p:txBody>
      </p:sp>
      <p:sp>
        <p:nvSpPr>
          <p:cNvPr id="7" name="TextBox 6"/>
          <p:cNvSpPr txBox="1"/>
          <p:nvPr/>
        </p:nvSpPr>
        <p:spPr>
          <a:xfrm>
            <a:off x="3887804" y="3655359"/>
            <a:ext cx="319125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Categories</a:t>
            </a:r>
          </a:p>
        </p:txBody>
      </p:sp>
      <p:pic>
        <p:nvPicPr>
          <p:cNvPr id="10" name="Picture 9">
            <a:extLst>
              <a:ext uri="{FF2B5EF4-FFF2-40B4-BE49-F238E27FC236}">
                <a16:creationId xmlns:a16="http://schemas.microsoft.com/office/drawing/2014/main" id="{3B1B6C60-67B5-7361-9355-0380C9CF4515}"/>
              </a:ext>
            </a:extLst>
          </p:cNvPr>
          <p:cNvPicPr>
            <a:picLocks noChangeAspect="1"/>
          </p:cNvPicPr>
          <p:nvPr/>
        </p:nvPicPr>
        <p:blipFill>
          <a:blip r:embed="rId3"/>
          <a:stretch>
            <a:fillRect/>
          </a:stretch>
        </p:blipFill>
        <p:spPr>
          <a:xfrm>
            <a:off x="722376" y="1789065"/>
            <a:ext cx="4000500" cy="1562100"/>
          </a:xfrm>
          <a:prstGeom prst="rect">
            <a:avLst/>
          </a:prstGeom>
        </p:spPr>
      </p:pic>
      <p:pic>
        <p:nvPicPr>
          <p:cNvPr id="12" name="Picture 11">
            <a:extLst>
              <a:ext uri="{FF2B5EF4-FFF2-40B4-BE49-F238E27FC236}">
                <a16:creationId xmlns:a16="http://schemas.microsoft.com/office/drawing/2014/main" id="{A7F02D2C-099E-6E20-3938-4E4CE66879DA}"/>
              </a:ext>
            </a:extLst>
          </p:cNvPr>
          <p:cNvPicPr>
            <a:picLocks noChangeAspect="1"/>
          </p:cNvPicPr>
          <p:nvPr/>
        </p:nvPicPr>
        <p:blipFill>
          <a:blip r:embed="rId4"/>
          <a:stretch>
            <a:fillRect/>
          </a:stretch>
        </p:blipFill>
        <p:spPr>
          <a:xfrm>
            <a:off x="6170758" y="1905120"/>
            <a:ext cx="5387774" cy="1395864"/>
          </a:xfrm>
          <a:prstGeom prst="rect">
            <a:avLst/>
          </a:prstGeom>
        </p:spPr>
      </p:pic>
      <p:sp>
        <p:nvSpPr>
          <p:cNvPr id="13" name="TextBox 12">
            <a:extLst>
              <a:ext uri="{FF2B5EF4-FFF2-40B4-BE49-F238E27FC236}">
                <a16:creationId xmlns:a16="http://schemas.microsoft.com/office/drawing/2014/main" id="{ADCD8120-611F-6101-6673-FC60E3C75066}"/>
              </a:ext>
            </a:extLst>
          </p:cNvPr>
          <p:cNvSpPr txBox="1"/>
          <p:nvPr/>
        </p:nvSpPr>
        <p:spPr>
          <a:xfrm>
            <a:off x="6734556" y="1315623"/>
            <a:ext cx="2971800" cy="523220"/>
          </a:xfrm>
          <a:prstGeom prst="rect">
            <a:avLst/>
          </a:prstGeom>
          <a:noFill/>
        </p:spPr>
        <p:txBody>
          <a:bodyPr wrap="square" rtlCol="0">
            <a:spAutoFit/>
          </a:bodyPr>
          <a:lstStyle/>
          <a:p>
            <a:r>
              <a:rPr lang="en-GB" sz="2800" b="1" dirty="0">
                <a:latin typeface="Times New Roman" panose="02020603050405020304" pitchFamily="18" charset="0"/>
                <a:cs typeface="Times New Roman" panose="02020603050405020304" pitchFamily="18" charset="0"/>
              </a:rPr>
              <a:t>Customer</a:t>
            </a:r>
            <a:r>
              <a:rPr lang="en-GB" sz="2800" b="1" dirty="0"/>
              <a:t>s </a:t>
            </a:r>
            <a:endParaRPr lang="en-IN" sz="2800" b="1" dirty="0"/>
          </a:p>
        </p:txBody>
      </p:sp>
      <p:pic>
        <p:nvPicPr>
          <p:cNvPr id="15" name="Picture 14">
            <a:extLst>
              <a:ext uri="{FF2B5EF4-FFF2-40B4-BE49-F238E27FC236}">
                <a16:creationId xmlns:a16="http://schemas.microsoft.com/office/drawing/2014/main" id="{5BAB0DEE-C89B-7464-AD09-A0924DBF6052}"/>
              </a:ext>
            </a:extLst>
          </p:cNvPr>
          <p:cNvPicPr>
            <a:picLocks noChangeAspect="1"/>
          </p:cNvPicPr>
          <p:nvPr/>
        </p:nvPicPr>
        <p:blipFill>
          <a:blip r:embed="rId5"/>
          <a:stretch>
            <a:fillRect/>
          </a:stretch>
        </p:blipFill>
        <p:spPr>
          <a:xfrm>
            <a:off x="2303563" y="4475312"/>
            <a:ext cx="5916893" cy="1143361"/>
          </a:xfrm>
          <a:prstGeom prst="rect">
            <a:avLst/>
          </a:prstGeom>
        </p:spPr>
      </p:pic>
    </p:spTree>
    <p:extLst>
      <p:ext uri="{BB962C8B-B14F-4D97-AF65-F5344CB8AC3E}">
        <p14:creationId xmlns:p14="http://schemas.microsoft.com/office/powerpoint/2010/main" val="1628729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87552" y="475488"/>
            <a:ext cx="372160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Orders </a:t>
            </a:r>
          </a:p>
        </p:txBody>
      </p:sp>
      <p:sp>
        <p:nvSpPr>
          <p:cNvPr id="6" name="TextBox 5"/>
          <p:cNvSpPr txBox="1"/>
          <p:nvPr/>
        </p:nvSpPr>
        <p:spPr>
          <a:xfrm>
            <a:off x="6793992" y="475488"/>
            <a:ext cx="380390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Products Table</a:t>
            </a:r>
          </a:p>
        </p:txBody>
      </p:sp>
      <p:sp>
        <p:nvSpPr>
          <p:cNvPr id="8" name="TextBox 7"/>
          <p:cNvSpPr txBox="1"/>
          <p:nvPr/>
        </p:nvSpPr>
        <p:spPr>
          <a:xfrm>
            <a:off x="4014216" y="3099816"/>
            <a:ext cx="35570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Store employees  Table</a:t>
            </a:r>
          </a:p>
        </p:txBody>
      </p:sp>
      <p:pic>
        <p:nvPicPr>
          <p:cNvPr id="3" name="Picture 2">
            <a:extLst>
              <a:ext uri="{FF2B5EF4-FFF2-40B4-BE49-F238E27FC236}">
                <a16:creationId xmlns:a16="http://schemas.microsoft.com/office/drawing/2014/main" id="{A7721FBE-4330-4C53-22EC-1C904DC71295}"/>
              </a:ext>
            </a:extLst>
          </p:cNvPr>
          <p:cNvPicPr>
            <a:picLocks noChangeAspect="1"/>
          </p:cNvPicPr>
          <p:nvPr/>
        </p:nvPicPr>
        <p:blipFill>
          <a:blip r:embed="rId2"/>
          <a:stretch>
            <a:fillRect/>
          </a:stretch>
        </p:blipFill>
        <p:spPr>
          <a:xfrm>
            <a:off x="371223" y="1152534"/>
            <a:ext cx="4747291" cy="1339286"/>
          </a:xfrm>
          <a:prstGeom prst="rect">
            <a:avLst/>
          </a:prstGeom>
        </p:spPr>
      </p:pic>
      <p:pic>
        <p:nvPicPr>
          <p:cNvPr id="15" name="Picture 14">
            <a:extLst>
              <a:ext uri="{FF2B5EF4-FFF2-40B4-BE49-F238E27FC236}">
                <a16:creationId xmlns:a16="http://schemas.microsoft.com/office/drawing/2014/main" id="{B083C928-F337-CE3F-0BE3-3A885099D0B3}"/>
              </a:ext>
            </a:extLst>
          </p:cNvPr>
          <p:cNvPicPr>
            <a:picLocks noChangeAspect="1"/>
          </p:cNvPicPr>
          <p:nvPr/>
        </p:nvPicPr>
        <p:blipFill>
          <a:blip r:embed="rId3"/>
          <a:stretch>
            <a:fillRect/>
          </a:stretch>
        </p:blipFill>
        <p:spPr>
          <a:xfrm>
            <a:off x="6096000" y="1085130"/>
            <a:ext cx="3895725" cy="1343025"/>
          </a:xfrm>
          <a:prstGeom prst="rect">
            <a:avLst/>
          </a:prstGeom>
        </p:spPr>
      </p:pic>
      <p:pic>
        <p:nvPicPr>
          <p:cNvPr id="17" name="Picture 16">
            <a:extLst>
              <a:ext uri="{FF2B5EF4-FFF2-40B4-BE49-F238E27FC236}">
                <a16:creationId xmlns:a16="http://schemas.microsoft.com/office/drawing/2014/main" id="{94CF13D2-ABFE-30A0-46EC-B63351E82881}"/>
              </a:ext>
            </a:extLst>
          </p:cNvPr>
          <p:cNvPicPr>
            <a:picLocks noChangeAspect="1"/>
          </p:cNvPicPr>
          <p:nvPr/>
        </p:nvPicPr>
        <p:blipFill>
          <a:blip r:embed="rId4"/>
          <a:stretch>
            <a:fillRect/>
          </a:stretch>
        </p:blipFill>
        <p:spPr>
          <a:xfrm>
            <a:off x="3208672" y="3842836"/>
            <a:ext cx="5011245" cy="1464093"/>
          </a:xfrm>
          <a:prstGeom prst="rect">
            <a:avLst/>
          </a:prstGeom>
        </p:spPr>
      </p:pic>
    </p:spTree>
    <p:extLst>
      <p:ext uri="{BB962C8B-B14F-4D97-AF65-F5344CB8AC3E}">
        <p14:creationId xmlns:p14="http://schemas.microsoft.com/office/powerpoint/2010/main" val="2812468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74D5C5-50D3-1D39-E114-191E7F2457E1}"/>
              </a:ext>
            </a:extLst>
          </p:cNvPr>
          <p:cNvPicPr>
            <a:picLocks noChangeAspect="1"/>
          </p:cNvPicPr>
          <p:nvPr/>
        </p:nvPicPr>
        <p:blipFill>
          <a:blip r:embed="rId2"/>
          <a:stretch>
            <a:fillRect/>
          </a:stretch>
        </p:blipFill>
        <p:spPr>
          <a:xfrm>
            <a:off x="2222332" y="2357437"/>
            <a:ext cx="7330415" cy="1669132"/>
          </a:xfrm>
          <a:prstGeom prst="rect">
            <a:avLst/>
          </a:prstGeom>
        </p:spPr>
      </p:pic>
      <p:sp>
        <p:nvSpPr>
          <p:cNvPr id="6" name="TextBox 5">
            <a:extLst>
              <a:ext uri="{FF2B5EF4-FFF2-40B4-BE49-F238E27FC236}">
                <a16:creationId xmlns:a16="http://schemas.microsoft.com/office/drawing/2014/main" id="{C2ABC61D-8211-4FFE-889E-77CD259E2DEF}"/>
              </a:ext>
            </a:extLst>
          </p:cNvPr>
          <p:cNvSpPr txBox="1"/>
          <p:nvPr/>
        </p:nvSpPr>
        <p:spPr>
          <a:xfrm>
            <a:off x="4363453" y="1379621"/>
            <a:ext cx="1691489" cy="523220"/>
          </a:xfrm>
          <a:prstGeom prst="rect">
            <a:avLst/>
          </a:prstGeom>
          <a:noFill/>
        </p:spPr>
        <p:txBody>
          <a:bodyPr wrap="none" rtlCol="0">
            <a:spAutoFit/>
          </a:bodyPr>
          <a:lstStyle/>
          <a:p>
            <a:r>
              <a:rPr lang="en-GB" sz="2800" b="1" dirty="0">
                <a:latin typeface="Times New Roman" panose="02020603050405020304" pitchFamily="18" charset="0"/>
                <a:cs typeface="Times New Roman" panose="02020603050405020304" pitchFamily="18" charset="0"/>
              </a:rPr>
              <a:t>Suppliers</a:t>
            </a:r>
            <a:r>
              <a:rPr lang="en-GB" dirty="0"/>
              <a:t> </a:t>
            </a:r>
            <a:endParaRPr lang="en-IN" dirty="0"/>
          </a:p>
        </p:txBody>
      </p:sp>
    </p:spTree>
    <p:extLst>
      <p:ext uri="{BB962C8B-B14F-4D97-AF65-F5344CB8AC3E}">
        <p14:creationId xmlns:p14="http://schemas.microsoft.com/office/powerpoint/2010/main" val="868970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2" name="TextBox 1"/>
          <p:cNvSpPr txBox="1"/>
          <p:nvPr/>
        </p:nvSpPr>
        <p:spPr>
          <a:xfrm>
            <a:off x="0" y="156561"/>
            <a:ext cx="11119104" cy="400110"/>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How many unique customers have placed orders</a:t>
            </a:r>
            <a:endParaRPr lang="en-US"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EC13D3B-B76A-8E24-27F3-E5830C0ECCDC}"/>
              </a:ext>
            </a:extLst>
          </p:cNvPr>
          <p:cNvPicPr>
            <a:picLocks noChangeAspect="1"/>
          </p:cNvPicPr>
          <p:nvPr/>
        </p:nvPicPr>
        <p:blipFill>
          <a:blip r:embed="rId3"/>
          <a:stretch>
            <a:fillRect/>
          </a:stretch>
        </p:blipFill>
        <p:spPr>
          <a:xfrm>
            <a:off x="6445845" y="1277793"/>
            <a:ext cx="5359855" cy="1678767"/>
          </a:xfrm>
          <a:prstGeom prst="rect">
            <a:avLst/>
          </a:prstGeom>
        </p:spPr>
      </p:pic>
      <p:pic>
        <p:nvPicPr>
          <p:cNvPr id="7" name="Picture 6">
            <a:extLst>
              <a:ext uri="{FF2B5EF4-FFF2-40B4-BE49-F238E27FC236}">
                <a16:creationId xmlns:a16="http://schemas.microsoft.com/office/drawing/2014/main" id="{F9994F96-01D3-9297-3979-680C98011369}"/>
              </a:ext>
            </a:extLst>
          </p:cNvPr>
          <p:cNvPicPr>
            <a:picLocks noChangeAspect="1"/>
          </p:cNvPicPr>
          <p:nvPr/>
        </p:nvPicPr>
        <p:blipFill>
          <a:blip r:embed="rId4"/>
          <a:stretch>
            <a:fillRect/>
          </a:stretch>
        </p:blipFill>
        <p:spPr>
          <a:xfrm>
            <a:off x="6588959" y="4450080"/>
            <a:ext cx="4530145" cy="1253019"/>
          </a:xfrm>
          <a:prstGeom prst="rect">
            <a:avLst/>
          </a:prstGeom>
        </p:spPr>
      </p:pic>
      <p:sp>
        <p:nvSpPr>
          <p:cNvPr id="9" name="TextBox 8">
            <a:extLst>
              <a:ext uri="{FF2B5EF4-FFF2-40B4-BE49-F238E27FC236}">
                <a16:creationId xmlns:a16="http://schemas.microsoft.com/office/drawing/2014/main" id="{31ED3D33-BCEC-5A63-8441-5D2D17938FCD}"/>
              </a:ext>
            </a:extLst>
          </p:cNvPr>
          <p:cNvSpPr txBox="1"/>
          <p:nvPr/>
        </p:nvSpPr>
        <p:spPr>
          <a:xfrm>
            <a:off x="0" y="3503265"/>
            <a:ext cx="976884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Which customers have placed the highest number of orders</a:t>
            </a:r>
            <a:r>
              <a:rPr lang="en-IN" dirty="0"/>
              <a:t>?</a:t>
            </a:r>
          </a:p>
        </p:txBody>
      </p:sp>
      <p:pic>
        <p:nvPicPr>
          <p:cNvPr id="11" name="Picture 10">
            <a:extLst>
              <a:ext uri="{FF2B5EF4-FFF2-40B4-BE49-F238E27FC236}">
                <a16:creationId xmlns:a16="http://schemas.microsoft.com/office/drawing/2014/main" id="{66C647CC-5D5E-F405-844F-01CB148C9CEA}"/>
              </a:ext>
            </a:extLst>
          </p:cNvPr>
          <p:cNvPicPr>
            <a:picLocks noChangeAspect="1"/>
          </p:cNvPicPr>
          <p:nvPr/>
        </p:nvPicPr>
        <p:blipFill>
          <a:blip r:embed="rId5"/>
          <a:stretch>
            <a:fillRect/>
          </a:stretch>
        </p:blipFill>
        <p:spPr>
          <a:xfrm>
            <a:off x="0" y="1188515"/>
            <a:ext cx="6588959" cy="1360932"/>
          </a:xfrm>
          <a:prstGeom prst="rect">
            <a:avLst/>
          </a:prstGeom>
        </p:spPr>
      </p:pic>
      <p:pic>
        <p:nvPicPr>
          <p:cNvPr id="13" name="Picture 12">
            <a:extLst>
              <a:ext uri="{FF2B5EF4-FFF2-40B4-BE49-F238E27FC236}">
                <a16:creationId xmlns:a16="http://schemas.microsoft.com/office/drawing/2014/main" id="{5AC12D64-CE5B-33CA-6C96-FE6940614048}"/>
              </a:ext>
            </a:extLst>
          </p:cNvPr>
          <p:cNvPicPr>
            <a:picLocks noChangeAspect="1"/>
          </p:cNvPicPr>
          <p:nvPr/>
        </p:nvPicPr>
        <p:blipFill>
          <a:blip r:embed="rId6"/>
          <a:stretch>
            <a:fillRect/>
          </a:stretch>
        </p:blipFill>
        <p:spPr>
          <a:xfrm>
            <a:off x="653415" y="4181239"/>
            <a:ext cx="4057650" cy="1790700"/>
          </a:xfrm>
          <a:prstGeom prst="rect">
            <a:avLst/>
          </a:prstGeom>
        </p:spPr>
      </p:pic>
    </p:spTree>
    <p:extLst>
      <p:ext uri="{BB962C8B-B14F-4D97-AF65-F5344CB8AC3E}">
        <p14:creationId xmlns:p14="http://schemas.microsoft.com/office/powerpoint/2010/main" val="4010862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2" name="TextBox 1"/>
          <p:cNvSpPr txBox="1"/>
          <p:nvPr/>
        </p:nvSpPr>
        <p:spPr>
          <a:xfrm>
            <a:off x="310896" y="530032"/>
            <a:ext cx="11375136" cy="400110"/>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What is the total and average purchase value per customer?</a:t>
            </a:r>
            <a:endParaRPr lang="en-US"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4FE04AB-CA8B-0736-4AA0-249B28A84783}"/>
              </a:ext>
            </a:extLst>
          </p:cNvPr>
          <p:cNvPicPr>
            <a:picLocks noChangeAspect="1"/>
          </p:cNvPicPr>
          <p:nvPr/>
        </p:nvPicPr>
        <p:blipFill>
          <a:blip r:embed="rId3"/>
          <a:stretch>
            <a:fillRect/>
          </a:stretch>
        </p:blipFill>
        <p:spPr>
          <a:xfrm>
            <a:off x="6771244" y="930142"/>
            <a:ext cx="4833497" cy="5552954"/>
          </a:xfrm>
          <a:prstGeom prst="rect">
            <a:avLst/>
          </a:prstGeom>
        </p:spPr>
      </p:pic>
      <p:pic>
        <p:nvPicPr>
          <p:cNvPr id="8" name="Picture 7">
            <a:extLst>
              <a:ext uri="{FF2B5EF4-FFF2-40B4-BE49-F238E27FC236}">
                <a16:creationId xmlns:a16="http://schemas.microsoft.com/office/drawing/2014/main" id="{E530601C-279F-F9D3-2DFE-7D7E9BDF1E0B}"/>
              </a:ext>
            </a:extLst>
          </p:cNvPr>
          <p:cNvPicPr>
            <a:picLocks noChangeAspect="1"/>
          </p:cNvPicPr>
          <p:nvPr/>
        </p:nvPicPr>
        <p:blipFill>
          <a:blip r:embed="rId4"/>
          <a:stretch>
            <a:fillRect/>
          </a:stretch>
        </p:blipFill>
        <p:spPr>
          <a:xfrm>
            <a:off x="310896" y="1516284"/>
            <a:ext cx="6281902" cy="3321934"/>
          </a:xfrm>
          <a:prstGeom prst="rect">
            <a:avLst/>
          </a:prstGeom>
        </p:spPr>
      </p:pic>
    </p:spTree>
    <p:extLst>
      <p:ext uri="{BB962C8B-B14F-4D97-AF65-F5344CB8AC3E}">
        <p14:creationId xmlns:p14="http://schemas.microsoft.com/office/powerpoint/2010/main" val="2161091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0040" y="402336"/>
            <a:ext cx="11585448" cy="400110"/>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What is the average price of products by category</a:t>
            </a:r>
            <a:endParaRPr lang="en-US"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82598B3-462A-AED6-A3C6-09FCA0627719}"/>
              </a:ext>
            </a:extLst>
          </p:cNvPr>
          <p:cNvPicPr>
            <a:picLocks noChangeAspect="1"/>
          </p:cNvPicPr>
          <p:nvPr/>
        </p:nvPicPr>
        <p:blipFill>
          <a:blip r:embed="rId2"/>
          <a:stretch>
            <a:fillRect/>
          </a:stretch>
        </p:blipFill>
        <p:spPr>
          <a:xfrm>
            <a:off x="7182802" y="251871"/>
            <a:ext cx="4257675" cy="2348865"/>
          </a:xfrm>
          <a:prstGeom prst="rect">
            <a:avLst/>
          </a:prstGeom>
        </p:spPr>
      </p:pic>
      <p:pic>
        <p:nvPicPr>
          <p:cNvPr id="8" name="Picture 7">
            <a:extLst>
              <a:ext uri="{FF2B5EF4-FFF2-40B4-BE49-F238E27FC236}">
                <a16:creationId xmlns:a16="http://schemas.microsoft.com/office/drawing/2014/main" id="{7A18C5FC-C67E-EC08-17F2-735D4C32D2F1}"/>
              </a:ext>
            </a:extLst>
          </p:cNvPr>
          <p:cNvPicPr>
            <a:picLocks noChangeAspect="1"/>
          </p:cNvPicPr>
          <p:nvPr/>
        </p:nvPicPr>
        <p:blipFill>
          <a:blip r:embed="rId3"/>
          <a:stretch>
            <a:fillRect/>
          </a:stretch>
        </p:blipFill>
        <p:spPr>
          <a:xfrm>
            <a:off x="7530464" y="2419350"/>
            <a:ext cx="3562350" cy="4438650"/>
          </a:xfrm>
          <a:prstGeom prst="rect">
            <a:avLst/>
          </a:prstGeom>
        </p:spPr>
      </p:pic>
      <p:sp>
        <p:nvSpPr>
          <p:cNvPr id="10" name="TextBox 9">
            <a:extLst>
              <a:ext uri="{FF2B5EF4-FFF2-40B4-BE49-F238E27FC236}">
                <a16:creationId xmlns:a16="http://schemas.microsoft.com/office/drawing/2014/main" id="{CCDD26BC-4E10-4532-BB04-5A2917F69DD2}"/>
              </a:ext>
            </a:extLst>
          </p:cNvPr>
          <p:cNvSpPr txBox="1"/>
          <p:nvPr/>
        </p:nvSpPr>
        <p:spPr>
          <a:xfrm>
            <a:off x="16764" y="2600736"/>
            <a:ext cx="7513700" cy="400110"/>
          </a:xfrm>
          <a:prstGeom prst="rect">
            <a:avLst/>
          </a:prstGeom>
          <a:noFill/>
        </p:spPr>
        <p:txBody>
          <a:bodyPr wrap="square">
            <a:spAutoFit/>
          </a:bodyPr>
          <a:lstStyle/>
          <a:p>
            <a:r>
              <a:rPr lang="en-IN" dirty="0"/>
              <a:t> </a:t>
            </a:r>
            <a:r>
              <a:rPr lang="en-IN" sz="2000" b="1" dirty="0">
                <a:latin typeface="Times New Roman" panose="02020603050405020304" pitchFamily="18" charset="0"/>
                <a:cs typeface="Times New Roman" panose="02020603050405020304" pitchFamily="18" charset="0"/>
              </a:rPr>
              <a:t>Which products have the highest total sales volume (by quantity)?</a:t>
            </a:r>
          </a:p>
        </p:txBody>
      </p:sp>
      <p:pic>
        <p:nvPicPr>
          <p:cNvPr id="12" name="Picture 11">
            <a:extLst>
              <a:ext uri="{FF2B5EF4-FFF2-40B4-BE49-F238E27FC236}">
                <a16:creationId xmlns:a16="http://schemas.microsoft.com/office/drawing/2014/main" id="{48124D18-2283-8D64-8C13-9884FB3C94BB}"/>
              </a:ext>
            </a:extLst>
          </p:cNvPr>
          <p:cNvPicPr>
            <a:picLocks noChangeAspect="1"/>
          </p:cNvPicPr>
          <p:nvPr/>
        </p:nvPicPr>
        <p:blipFill>
          <a:blip r:embed="rId4"/>
          <a:stretch>
            <a:fillRect/>
          </a:stretch>
        </p:blipFill>
        <p:spPr>
          <a:xfrm>
            <a:off x="96202" y="1067006"/>
            <a:ext cx="6621589" cy="962025"/>
          </a:xfrm>
          <a:prstGeom prst="rect">
            <a:avLst/>
          </a:prstGeom>
        </p:spPr>
      </p:pic>
      <p:pic>
        <p:nvPicPr>
          <p:cNvPr id="14" name="Picture 13">
            <a:extLst>
              <a:ext uri="{FF2B5EF4-FFF2-40B4-BE49-F238E27FC236}">
                <a16:creationId xmlns:a16="http://schemas.microsoft.com/office/drawing/2014/main" id="{7654F7B3-4029-E4AF-C1CF-2E9F2F3D5D9E}"/>
              </a:ext>
            </a:extLst>
          </p:cNvPr>
          <p:cNvPicPr>
            <a:picLocks noChangeAspect="1"/>
          </p:cNvPicPr>
          <p:nvPr/>
        </p:nvPicPr>
        <p:blipFill>
          <a:blip r:embed="rId5"/>
          <a:stretch>
            <a:fillRect/>
          </a:stretch>
        </p:blipFill>
        <p:spPr>
          <a:xfrm>
            <a:off x="678941" y="3162300"/>
            <a:ext cx="6038850" cy="2952750"/>
          </a:xfrm>
          <a:prstGeom prst="rect">
            <a:avLst/>
          </a:prstGeom>
        </p:spPr>
      </p:pic>
    </p:spTree>
    <p:extLst>
      <p:ext uri="{BB962C8B-B14F-4D97-AF65-F5344CB8AC3E}">
        <p14:creationId xmlns:p14="http://schemas.microsoft.com/office/powerpoint/2010/main" val="3057157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3" name="TextBox 2"/>
          <p:cNvSpPr txBox="1"/>
          <p:nvPr/>
        </p:nvSpPr>
        <p:spPr>
          <a:xfrm>
            <a:off x="194692" y="240441"/>
            <a:ext cx="11430000" cy="400110"/>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Who are the top 5 customers by total purchase amount?</a:t>
            </a:r>
            <a:endParaRPr lang="en-US"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05B441F-F9F0-BAD0-FC98-41DE569902B5}"/>
              </a:ext>
            </a:extLst>
          </p:cNvPr>
          <p:cNvSpPr txBox="1"/>
          <p:nvPr/>
        </p:nvSpPr>
        <p:spPr>
          <a:xfrm>
            <a:off x="429767" y="3423452"/>
            <a:ext cx="10624055" cy="400110"/>
          </a:xfrm>
          <a:prstGeom prst="rect">
            <a:avLst/>
          </a:prstGeom>
          <a:noFill/>
        </p:spPr>
        <p:txBody>
          <a:bodyPr wrap="square">
            <a:spAutoFit/>
          </a:bodyPr>
          <a:lstStyle/>
          <a:p>
            <a:r>
              <a:rPr lang="en-GB" sz="2000" b="1" dirty="0">
                <a:latin typeface="Times New Roman" panose="02020603050405020304" pitchFamily="18" charset="0"/>
                <a:cs typeface="Times New Roman" panose="02020603050405020304" pitchFamily="18" charset="0"/>
              </a:rPr>
              <a:t>Product Performance--  How many products exist in each category</a:t>
            </a:r>
            <a:r>
              <a:rPr lang="en-US" sz="2000" b="1" dirty="0">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48B99998-6FF3-D84F-CF73-9E5687A18319}"/>
              </a:ext>
            </a:extLst>
          </p:cNvPr>
          <p:cNvPicPr>
            <a:picLocks noChangeAspect="1"/>
          </p:cNvPicPr>
          <p:nvPr/>
        </p:nvPicPr>
        <p:blipFill>
          <a:blip r:embed="rId3"/>
          <a:stretch>
            <a:fillRect/>
          </a:stretch>
        </p:blipFill>
        <p:spPr>
          <a:xfrm>
            <a:off x="6828212" y="1158637"/>
            <a:ext cx="4646059" cy="1746728"/>
          </a:xfrm>
          <a:prstGeom prst="rect">
            <a:avLst/>
          </a:prstGeom>
        </p:spPr>
      </p:pic>
      <p:pic>
        <p:nvPicPr>
          <p:cNvPr id="11" name="Picture 10">
            <a:extLst>
              <a:ext uri="{FF2B5EF4-FFF2-40B4-BE49-F238E27FC236}">
                <a16:creationId xmlns:a16="http://schemas.microsoft.com/office/drawing/2014/main" id="{581E6D2E-5961-3CC4-F4A8-1EC313DF5D60}"/>
              </a:ext>
            </a:extLst>
          </p:cNvPr>
          <p:cNvPicPr>
            <a:picLocks noChangeAspect="1"/>
          </p:cNvPicPr>
          <p:nvPr/>
        </p:nvPicPr>
        <p:blipFill>
          <a:blip r:embed="rId4"/>
          <a:stretch>
            <a:fillRect/>
          </a:stretch>
        </p:blipFill>
        <p:spPr>
          <a:xfrm>
            <a:off x="6635169" y="4114987"/>
            <a:ext cx="5032143" cy="2115503"/>
          </a:xfrm>
          <a:prstGeom prst="rect">
            <a:avLst/>
          </a:prstGeom>
        </p:spPr>
      </p:pic>
      <p:pic>
        <p:nvPicPr>
          <p:cNvPr id="13" name="Picture 12">
            <a:extLst>
              <a:ext uri="{FF2B5EF4-FFF2-40B4-BE49-F238E27FC236}">
                <a16:creationId xmlns:a16="http://schemas.microsoft.com/office/drawing/2014/main" id="{20F9196A-845C-F074-348F-14B9252DEA40}"/>
              </a:ext>
            </a:extLst>
          </p:cNvPr>
          <p:cNvPicPr>
            <a:picLocks noChangeAspect="1"/>
          </p:cNvPicPr>
          <p:nvPr/>
        </p:nvPicPr>
        <p:blipFill>
          <a:blip r:embed="rId5"/>
          <a:stretch>
            <a:fillRect/>
          </a:stretch>
        </p:blipFill>
        <p:spPr>
          <a:xfrm>
            <a:off x="316612" y="4114987"/>
            <a:ext cx="5593080" cy="1746728"/>
          </a:xfrm>
          <a:prstGeom prst="rect">
            <a:avLst/>
          </a:prstGeom>
        </p:spPr>
      </p:pic>
      <p:pic>
        <p:nvPicPr>
          <p:cNvPr id="17" name="Picture 16">
            <a:extLst>
              <a:ext uri="{FF2B5EF4-FFF2-40B4-BE49-F238E27FC236}">
                <a16:creationId xmlns:a16="http://schemas.microsoft.com/office/drawing/2014/main" id="{C56EB603-19FB-411D-C9F7-A294C01C9F4C}"/>
              </a:ext>
            </a:extLst>
          </p:cNvPr>
          <p:cNvPicPr>
            <a:picLocks noChangeAspect="1"/>
          </p:cNvPicPr>
          <p:nvPr/>
        </p:nvPicPr>
        <p:blipFill>
          <a:blip r:embed="rId6"/>
          <a:stretch>
            <a:fillRect/>
          </a:stretch>
        </p:blipFill>
        <p:spPr>
          <a:xfrm>
            <a:off x="502920" y="855552"/>
            <a:ext cx="5593080" cy="2276475"/>
          </a:xfrm>
          <a:prstGeom prst="rect">
            <a:avLst/>
          </a:prstGeom>
        </p:spPr>
      </p:pic>
    </p:spTree>
    <p:extLst>
      <p:ext uri="{BB962C8B-B14F-4D97-AF65-F5344CB8AC3E}">
        <p14:creationId xmlns:p14="http://schemas.microsoft.com/office/powerpoint/2010/main" val="3867939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2471" y="357729"/>
            <a:ext cx="11274552" cy="400110"/>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What is the total revenue generated by each product</a:t>
            </a:r>
            <a:r>
              <a:rPr lang="en-US" sz="2000" b="1"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68DB4139-5FE1-FA20-5542-DC5A77EFCEC7}"/>
              </a:ext>
            </a:extLst>
          </p:cNvPr>
          <p:cNvPicPr>
            <a:picLocks noChangeAspect="1"/>
          </p:cNvPicPr>
          <p:nvPr/>
        </p:nvPicPr>
        <p:blipFill>
          <a:blip r:embed="rId2"/>
          <a:stretch>
            <a:fillRect/>
          </a:stretch>
        </p:blipFill>
        <p:spPr>
          <a:xfrm>
            <a:off x="7415228" y="757839"/>
            <a:ext cx="4352150" cy="5342322"/>
          </a:xfrm>
          <a:prstGeom prst="rect">
            <a:avLst/>
          </a:prstGeom>
        </p:spPr>
      </p:pic>
      <p:pic>
        <p:nvPicPr>
          <p:cNvPr id="10" name="Picture 9">
            <a:extLst>
              <a:ext uri="{FF2B5EF4-FFF2-40B4-BE49-F238E27FC236}">
                <a16:creationId xmlns:a16="http://schemas.microsoft.com/office/drawing/2014/main" id="{A06FD826-D358-DB35-3211-95B638CAA003}"/>
              </a:ext>
            </a:extLst>
          </p:cNvPr>
          <p:cNvPicPr>
            <a:picLocks noChangeAspect="1"/>
          </p:cNvPicPr>
          <p:nvPr/>
        </p:nvPicPr>
        <p:blipFill>
          <a:blip r:embed="rId3"/>
          <a:stretch>
            <a:fillRect/>
          </a:stretch>
        </p:blipFill>
        <p:spPr>
          <a:xfrm>
            <a:off x="530542" y="1382077"/>
            <a:ext cx="7067458" cy="3375118"/>
          </a:xfrm>
          <a:prstGeom prst="rect">
            <a:avLst/>
          </a:prstGeom>
        </p:spPr>
      </p:pic>
    </p:spTree>
    <p:extLst>
      <p:ext uri="{BB962C8B-B14F-4D97-AF65-F5344CB8AC3E}">
        <p14:creationId xmlns:p14="http://schemas.microsoft.com/office/powerpoint/2010/main" val="826193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32232" y="323606"/>
            <a:ext cx="9945624" cy="400110"/>
          </a:xfrm>
          <a:prstGeom prst="rect">
            <a:avLst/>
          </a:prstGeom>
        </p:spPr>
        <p:txBody>
          <a:bodyPr wrap="square">
            <a:spAutoFit/>
          </a:bodyPr>
          <a:lstStyle/>
          <a:p>
            <a:r>
              <a:rPr lang="en-GB" sz="2000" b="1" dirty="0">
                <a:latin typeface="Times New Roman" panose="02020603050405020304" pitchFamily="18" charset="0"/>
                <a:cs typeface="Times New Roman" panose="02020603050405020304" pitchFamily="18" charset="0"/>
              </a:rPr>
              <a:t>How do product sales vary by category and supplier</a:t>
            </a:r>
            <a:r>
              <a:rPr lang="en-US" sz="2000" b="1" dirty="0">
                <a:latin typeface="Times New Roman" panose="02020603050405020304" pitchFamily="18" charset="0"/>
                <a:cs typeface="Times New Roman" panose="02020603050405020304" pitchFamily="18" charset="0"/>
              </a:rPr>
              <a:t>?</a:t>
            </a:r>
          </a:p>
        </p:txBody>
      </p:sp>
      <p:pic>
        <p:nvPicPr>
          <p:cNvPr id="8" name="Picture 7">
            <a:extLst>
              <a:ext uri="{FF2B5EF4-FFF2-40B4-BE49-F238E27FC236}">
                <a16:creationId xmlns:a16="http://schemas.microsoft.com/office/drawing/2014/main" id="{70E5F76B-CCC3-0AFE-5C35-6BCFE30CA8D9}"/>
              </a:ext>
            </a:extLst>
          </p:cNvPr>
          <p:cNvPicPr>
            <a:picLocks noChangeAspect="1"/>
          </p:cNvPicPr>
          <p:nvPr/>
        </p:nvPicPr>
        <p:blipFill>
          <a:blip r:embed="rId2"/>
          <a:stretch>
            <a:fillRect/>
          </a:stretch>
        </p:blipFill>
        <p:spPr>
          <a:xfrm>
            <a:off x="480952" y="1403122"/>
            <a:ext cx="6011263" cy="3300504"/>
          </a:xfrm>
          <a:prstGeom prst="rect">
            <a:avLst/>
          </a:prstGeom>
        </p:spPr>
      </p:pic>
      <p:pic>
        <p:nvPicPr>
          <p:cNvPr id="10" name="Picture 9">
            <a:extLst>
              <a:ext uri="{FF2B5EF4-FFF2-40B4-BE49-F238E27FC236}">
                <a16:creationId xmlns:a16="http://schemas.microsoft.com/office/drawing/2014/main" id="{102BB37C-D9CD-C8C7-C1C3-27E068C3A798}"/>
              </a:ext>
            </a:extLst>
          </p:cNvPr>
          <p:cNvPicPr>
            <a:picLocks noChangeAspect="1"/>
          </p:cNvPicPr>
          <p:nvPr/>
        </p:nvPicPr>
        <p:blipFill>
          <a:blip r:embed="rId3"/>
          <a:stretch>
            <a:fillRect/>
          </a:stretch>
        </p:blipFill>
        <p:spPr>
          <a:xfrm>
            <a:off x="7368952" y="941884"/>
            <a:ext cx="4118572" cy="4974231"/>
          </a:xfrm>
          <a:prstGeom prst="rect">
            <a:avLst/>
          </a:prstGeom>
        </p:spPr>
      </p:pic>
    </p:spTree>
    <p:extLst>
      <p:ext uri="{BB962C8B-B14F-4D97-AF65-F5344CB8AC3E}">
        <p14:creationId xmlns:p14="http://schemas.microsoft.com/office/powerpoint/2010/main" val="3706281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21378" y="330743"/>
            <a:ext cx="5515542" cy="400110"/>
          </a:xfrm>
          <a:prstGeom prst="rect">
            <a:avLst/>
          </a:prstGeom>
        </p:spPr>
        <p:txBody>
          <a:bodyPr wrap="square">
            <a:spAutoFit/>
          </a:bodyPr>
          <a:lstStyle/>
          <a:p>
            <a:r>
              <a:rPr lang="en-GB" sz="2000" b="1" dirty="0">
                <a:latin typeface="Times New Roman" panose="02020603050405020304" pitchFamily="18" charset="0"/>
                <a:cs typeface="Times New Roman" panose="02020603050405020304" pitchFamily="18" charset="0"/>
              </a:rPr>
              <a:t>How many orders have been placed in total</a:t>
            </a:r>
            <a:r>
              <a:rPr lang="en-US" sz="2000" b="1" dirty="0">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D9A70E4A-691C-F276-8047-D6841FFC9A00}"/>
              </a:ext>
            </a:extLst>
          </p:cNvPr>
          <p:cNvPicPr>
            <a:picLocks noChangeAspect="1"/>
          </p:cNvPicPr>
          <p:nvPr/>
        </p:nvPicPr>
        <p:blipFill>
          <a:blip r:embed="rId2"/>
          <a:stretch>
            <a:fillRect/>
          </a:stretch>
        </p:blipFill>
        <p:spPr>
          <a:xfrm>
            <a:off x="761216" y="1073950"/>
            <a:ext cx="5181600" cy="581025"/>
          </a:xfrm>
          <a:prstGeom prst="rect">
            <a:avLst/>
          </a:prstGeom>
        </p:spPr>
      </p:pic>
      <p:pic>
        <p:nvPicPr>
          <p:cNvPr id="9" name="Picture 8">
            <a:extLst>
              <a:ext uri="{FF2B5EF4-FFF2-40B4-BE49-F238E27FC236}">
                <a16:creationId xmlns:a16="http://schemas.microsoft.com/office/drawing/2014/main" id="{F10704B0-CD16-7C90-E8B8-42ADB4968073}"/>
              </a:ext>
            </a:extLst>
          </p:cNvPr>
          <p:cNvPicPr>
            <a:picLocks noChangeAspect="1"/>
          </p:cNvPicPr>
          <p:nvPr/>
        </p:nvPicPr>
        <p:blipFill>
          <a:blip r:embed="rId3"/>
          <a:stretch>
            <a:fillRect/>
          </a:stretch>
        </p:blipFill>
        <p:spPr>
          <a:xfrm>
            <a:off x="8634980" y="642202"/>
            <a:ext cx="3235642" cy="1151669"/>
          </a:xfrm>
          <a:prstGeom prst="rect">
            <a:avLst/>
          </a:prstGeom>
        </p:spPr>
      </p:pic>
      <p:sp>
        <p:nvSpPr>
          <p:cNvPr id="13" name="TextBox 12">
            <a:extLst>
              <a:ext uri="{FF2B5EF4-FFF2-40B4-BE49-F238E27FC236}">
                <a16:creationId xmlns:a16="http://schemas.microsoft.com/office/drawing/2014/main" id="{3568D6C0-72DF-A41F-8976-DE3EC31F16B8}"/>
              </a:ext>
            </a:extLst>
          </p:cNvPr>
          <p:cNvSpPr txBox="1"/>
          <p:nvPr/>
        </p:nvSpPr>
        <p:spPr>
          <a:xfrm>
            <a:off x="321378" y="2201560"/>
            <a:ext cx="6094070" cy="461665"/>
          </a:xfrm>
          <a:prstGeom prst="rect">
            <a:avLst/>
          </a:prstGeom>
          <a:noFill/>
        </p:spPr>
        <p:txBody>
          <a:bodyPr wrap="square">
            <a:spAutoFit/>
          </a:bodyPr>
          <a:lstStyle/>
          <a:p>
            <a:r>
              <a:rPr lang="en-GB" sz="2400" b="1" dirty="0">
                <a:latin typeface="Times New Roman" panose="02020603050405020304" pitchFamily="18" charset="0"/>
                <a:cs typeface="Times New Roman" panose="02020603050405020304" pitchFamily="18" charset="0"/>
              </a:rPr>
              <a:t>What is the average value per order</a:t>
            </a:r>
            <a:r>
              <a:rPr lang="en-US" sz="2400" b="1" dirty="0">
                <a:latin typeface="Times New Roman" panose="02020603050405020304" pitchFamily="18" charset="0"/>
                <a:cs typeface="Times New Roman" panose="02020603050405020304" pitchFamily="18" charset="0"/>
              </a:rPr>
              <a:t>?</a:t>
            </a:r>
          </a:p>
        </p:txBody>
      </p:sp>
      <p:pic>
        <p:nvPicPr>
          <p:cNvPr id="14" name="Picture 13">
            <a:extLst>
              <a:ext uri="{FF2B5EF4-FFF2-40B4-BE49-F238E27FC236}">
                <a16:creationId xmlns:a16="http://schemas.microsoft.com/office/drawing/2014/main" id="{1AD418F8-90AD-0D1C-0F25-F0617AB68E80}"/>
              </a:ext>
            </a:extLst>
          </p:cNvPr>
          <p:cNvPicPr>
            <a:picLocks noChangeAspect="1"/>
          </p:cNvPicPr>
          <p:nvPr/>
        </p:nvPicPr>
        <p:blipFill>
          <a:blip r:embed="rId4"/>
          <a:stretch>
            <a:fillRect/>
          </a:stretch>
        </p:blipFill>
        <p:spPr>
          <a:xfrm>
            <a:off x="761216" y="2923188"/>
            <a:ext cx="4381500" cy="2543175"/>
          </a:xfrm>
          <a:prstGeom prst="rect">
            <a:avLst/>
          </a:prstGeom>
        </p:spPr>
      </p:pic>
      <p:pic>
        <p:nvPicPr>
          <p:cNvPr id="15" name="Picture 14">
            <a:extLst>
              <a:ext uri="{FF2B5EF4-FFF2-40B4-BE49-F238E27FC236}">
                <a16:creationId xmlns:a16="http://schemas.microsoft.com/office/drawing/2014/main" id="{4CD19FDF-2DEE-1C7F-E63A-7543DE1A81B0}"/>
              </a:ext>
            </a:extLst>
          </p:cNvPr>
          <p:cNvPicPr>
            <a:picLocks noChangeAspect="1"/>
          </p:cNvPicPr>
          <p:nvPr/>
        </p:nvPicPr>
        <p:blipFill>
          <a:blip r:embed="rId5"/>
          <a:stretch>
            <a:fillRect/>
          </a:stretch>
        </p:blipFill>
        <p:spPr>
          <a:xfrm>
            <a:off x="8786369" y="3527370"/>
            <a:ext cx="2932863" cy="1536760"/>
          </a:xfrm>
          <a:prstGeom prst="rect">
            <a:avLst/>
          </a:prstGeom>
        </p:spPr>
      </p:pic>
    </p:spTree>
    <p:extLst>
      <p:ext uri="{BB962C8B-B14F-4D97-AF65-F5344CB8AC3E}">
        <p14:creationId xmlns:p14="http://schemas.microsoft.com/office/powerpoint/2010/main" val="2350207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FE19058-1350-6712-BA37-20DD855A792B}"/>
              </a:ext>
            </a:extLst>
          </p:cNvPr>
          <p:cNvSpPr txBox="1"/>
          <p:nvPr/>
        </p:nvSpPr>
        <p:spPr>
          <a:xfrm>
            <a:off x="0" y="245551"/>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On which dates were the most orders placed? </a:t>
            </a:r>
          </a:p>
        </p:txBody>
      </p:sp>
      <p:pic>
        <p:nvPicPr>
          <p:cNvPr id="14" name="Picture 13">
            <a:extLst>
              <a:ext uri="{FF2B5EF4-FFF2-40B4-BE49-F238E27FC236}">
                <a16:creationId xmlns:a16="http://schemas.microsoft.com/office/drawing/2014/main" id="{F56189CE-3635-4B3C-EBBA-D017D44103F6}"/>
              </a:ext>
            </a:extLst>
          </p:cNvPr>
          <p:cNvPicPr>
            <a:picLocks noChangeAspect="1"/>
          </p:cNvPicPr>
          <p:nvPr/>
        </p:nvPicPr>
        <p:blipFill>
          <a:blip r:embed="rId2"/>
          <a:stretch>
            <a:fillRect/>
          </a:stretch>
        </p:blipFill>
        <p:spPr>
          <a:xfrm>
            <a:off x="636366" y="1267934"/>
            <a:ext cx="5772150" cy="1085850"/>
          </a:xfrm>
          <a:prstGeom prst="rect">
            <a:avLst/>
          </a:prstGeom>
        </p:spPr>
      </p:pic>
      <p:pic>
        <p:nvPicPr>
          <p:cNvPr id="15" name="Picture 14">
            <a:extLst>
              <a:ext uri="{FF2B5EF4-FFF2-40B4-BE49-F238E27FC236}">
                <a16:creationId xmlns:a16="http://schemas.microsoft.com/office/drawing/2014/main" id="{C6A9A0E1-E0AD-2C6F-FC25-E37E99610674}"/>
              </a:ext>
            </a:extLst>
          </p:cNvPr>
          <p:cNvPicPr>
            <a:picLocks noChangeAspect="1"/>
          </p:cNvPicPr>
          <p:nvPr/>
        </p:nvPicPr>
        <p:blipFill>
          <a:blip r:embed="rId3"/>
          <a:stretch>
            <a:fillRect/>
          </a:stretch>
        </p:blipFill>
        <p:spPr>
          <a:xfrm>
            <a:off x="7572234" y="344040"/>
            <a:ext cx="3770955" cy="5713921"/>
          </a:xfrm>
          <a:prstGeom prst="rect">
            <a:avLst/>
          </a:prstGeom>
        </p:spPr>
      </p:pic>
    </p:spTree>
    <p:extLst>
      <p:ext uri="{BB962C8B-B14F-4D97-AF65-F5344CB8AC3E}">
        <p14:creationId xmlns:p14="http://schemas.microsoft.com/office/powerpoint/2010/main" val="1798875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9636" y="297028"/>
            <a:ext cx="6712094" cy="400110"/>
          </a:xfrm>
          <a:prstGeom prst="rect">
            <a:avLst/>
          </a:prstGeom>
        </p:spPr>
        <p:txBody>
          <a:bodyPr wrap="none">
            <a:spAutoFit/>
          </a:bodyPr>
          <a:lstStyle/>
          <a:p>
            <a:r>
              <a:rPr lang="en-GB" sz="2000" b="1" dirty="0">
                <a:latin typeface="Times New Roman" panose="02020603050405020304" pitchFamily="18" charset="0"/>
                <a:cs typeface="Times New Roman" panose="02020603050405020304" pitchFamily="18" charset="0"/>
              </a:rPr>
              <a:t>What are the monthly trends in order volume and revenue?</a:t>
            </a:r>
            <a:endParaRPr lang="en-US" sz="20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CA225BD-AD3A-BCEA-4524-42400B0422DB}"/>
              </a:ext>
            </a:extLst>
          </p:cNvPr>
          <p:cNvPicPr>
            <a:picLocks noChangeAspect="1"/>
          </p:cNvPicPr>
          <p:nvPr/>
        </p:nvPicPr>
        <p:blipFill>
          <a:blip r:embed="rId2"/>
          <a:stretch>
            <a:fillRect/>
          </a:stretch>
        </p:blipFill>
        <p:spPr>
          <a:xfrm>
            <a:off x="229553" y="1028700"/>
            <a:ext cx="7085648" cy="2400300"/>
          </a:xfrm>
          <a:prstGeom prst="rect">
            <a:avLst/>
          </a:prstGeom>
        </p:spPr>
      </p:pic>
      <p:pic>
        <p:nvPicPr>
          <p:cNvPr id="9" name="Picture 8">
            <a:extLst>
              <a:ext uri="{FF2B5EF4-FFF2-40B4-BE49-F238E27FC236}">
                <a16:creationId xmlns:a16="http://schemas.microsoft.com/office/drawing/2014/main" id="{C33625ED-4037-A17B-180C-472E840B04D3}"/>
              </a:ext>
            </a:extLst>
          </p:cNvPr>
          <p:cNvPicPr>
            <a:picLocks noChangeAspect="1"/>
          </p:cNvPicPr>
          <p:nvPr/>
        </p:nvPicPr>
        <p:blipFill>
          <a:blip r:embed="rId3"/>
          <a:stretch>
            <a:fillRect/>
          </a:stretch>
        </p:blipFill>
        <p:spPr>
          <a:xfrm>
            <a:off x="6831730" y="1148238"/>
            <a:ext cx="4567274" cy="3951923"/>
          </a:xfrm>
          <a:prstGeom prst="rect">
            <a:avLst/>
          </a:prstGeom>
        </p:spPr>
      </p:pic>
    </p:spTree>
    <p:extLst>
      <p:ext uri="{BB962C8B-B14F-4D97-AF65-F5344CB8AC3E}">
        <p14:creationId xmlns:p14="http://schemas.microsoft.com/office/powerpoint/2010/main" val="2230639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7019" y="119275"/>
            <a:ext cx="6837128" cy="400110"/>
          </a:xfrm>
          <a:prstGeom prst="rect">
            <a:avLst/>
          </a:prstGeom>
        </p:spPr>
        <p:txBody>
          <a:bodyPr wrap="none">
            <a:spAutoFit/>
          </a:bodyPr>
          <a:lstStyle/>
          <a:p>
            <a:r>
              <a:rPr lang="en-GB" sz="2000" b="1" dirty="0">
                <a:latin typeface="Times New Roman" panose="02020603050405020304" pitchFamily="18" charset="0"/>
                <a:cs typeface="Times New Roman" panose="02020603050405020304" pitchFamily="18" charset="0"/>
              </a:rPr>
              <a:t>How do order patterns vary across weekdays and weekends?</a:t>
            </a:r>
            <a:endParaRPr lang="en-US" sz="20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1EC5E76-234E-5209-7967-8C305ED5E31F}"/>
              </a:ext>
            </a:extLst>
          </p:cNvPr>
          <p:cNvPicPr>
            <a:picLocks noChangeAspect="1"/>
          </p:cNvPicPr>
          <p:nvPr/>
        </p:nvPicPr>
        <p:blipFill>
          <a:blip r:embed="rId2"/>
          <a:stretch>
            <a:fillRect/>
          </a:stretch>
        </p:blipFill>
        <p:spPr>
          <a:xfrm>
            <a:off x="257019" y="628259"/>
            <a:ext cx="7012076" cy="3086100"/>
          </a:xfrm>
          <a:prstGeom prst="rect">
            <a:avLst/>
          </a:prstGeom>
        </p:spPr>
      </p:pic>
      <p:pic>
        <p:nvPicPr>
          <p:cNvPr id="10" name="Picture 9">
            <a:extLst>
              <a:ext uri="{FF2B5EF4-FFF2-40B4-BE49-F238E27FC236}">
                <a16:creationId xmlns:a16="http://schemas.microsoft.com/office/drawing/2014/main" id="{6A49C7AB-943B-3D67-C9DF-1591BAB0E8D4}"/>
              </a:ext>
            </a:extLst>
          </p:cNvPr>
          <p:cNvPicPr>
            <a:picLocks noChangeAspect="1"/>
          </p:cNvPicPr>
          <p:nvPr/>
        </p:nvPicPr>
        <p:blipFill>
          <a:blip r:embed="rId3"/>
          <a:stretch>
            <a:fillRect/>
          </a:stretch>
        </p:blipFill>
        <p:spPr>
          <a:xfrm>
            <a:off x="8248806" y="1171184"/>
            <a:ext cx="3686175" cy="1000125"/>
          </a:xfrm>
          <a:prstGeom prst="rect">
            <a:avLst/>
          </a:prstGeom>
        </p:spPr>
      </p:pic>
      <p:sp>
        <p:nvSpPr>
          <p:cNvPr id="12" name="TextBox 11">
            <a:extLst>
              <a:ext uri="{FF2B5EF4-FFF2-40B4-BE49-F238E27FC236}">
                <a16:creationId xmlns:a16="http://schemas.microsoft.com/office/drawing/2014/main" id="{046ABFB8-583A-1A1C-FDFC-91FD24C1195D}"/>
              </a:ext>
            </a:extLst>
          </p:cNvPr>
          <p:cNvSpPr txBox="1"/>
          <p:nvPr/>
        </p:nvSpPr>
        <p:spPr>
          <a:xfrm>
            <a:off x="366217" y="3968382"/>
            <a:ext cx="6094070"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4. Supplier Contribution</a:t>
            </a:r>
          </a:p>
          <a:p>
            <a:r>
              <a:rPr lang="en-GB" sz="2000" b="1" dirty="0">
                <a:latin typeface="Times New Roman" panose="02020603050405020304" pitchFamily="18" charset="0"/>
                <a:cs typeface="Times New Roman" panose="02020603050405020304" pitchFamily="18" charset="0"/>
              </a:rPr>
              <a:t>How many suppliers are there in the database? </a:t>
            </a:r>
            <a:endParaRPr lang="en-US" sz="20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7308C75D-6C2E-CC0F-9A99-95960BD42954}"/>
              </a:ext>
            </a:extLst>
          </p:cNvPr>
          <p:cNvPicPr>
            <a:picLocks noChangeAspect="1"/>
          </p:cNvPicPr>
          <p:nvPr/>
        </p:nvPicPr>
        <p:blipFill>
          <a:blip r:embed="rId4"/>
          <a:stretch>
            <a:fillRect/>
          </a:stretch>
        </p:blipFill>
        <p:spPr>
          <a:xfrm>
            <a:off x="348877" y="4930291"/>
            <a:ext cx="6654834" cy="802593"/>
          </a:xfrm>
          <a:prstGeom prst="rect">
            <a:avLst/>
          </a:prstGeom>
        </p:spPr>
      </p:pic>
      <p:pic>
        <p:nvPicPr>
          <p:cNvPr id="14" name="Picture 13">
            <a:extLst>
              <a:ext uri="{FF2B5EF4-FFF2-40B4-BE49-F238E27FC236}">
                <a16:creationId xmlns:a16="http://schemas.microsoft.com/office/drawing/2014/main" id="{33A77F6E-044F-D74E-DF6E-0AC9251C8A27}"/>
              </a:ext>
            </a:extLst>
          </p:cNvPr>
          <p:cNvPicPr>
            <a:picLocks noChangeAspect="1"/>
          </p:cNvPicPr>
          <p:nvPr/>
        </p:nvPicPr>
        <p:blipFill>
          <a:blip r:embed="rId5"/>
          <a:stretch>
            <a:fillRect/>
          </a:stretch>
        </p:blipFill>
        <p:spPr>
          <a:xfrm>
            <a:off x="8990269" y="4676268"/>
            <a:ext cx="3062377" cy="1150960"/>
          </a:xfrm>
          <a:prstGeom prst="rect">
            <a:avLst/>
          </a:prstGeom>
        </p:spPr>
      </p:pic>
    </p:spTree>
    <p:extLst>
      <p:ext uri="{BB962C8B-B14F-4D97-AF65-F5344CB8AC3E}">
        <p14:creationId xmlns:p14="http://schemas.microsoft.com/office/powerpoint/2010/main" val="4238489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2" name="TextBox 11">
            <a:extLst>
              <a:ext uri="{FF2B5EF4-FFF2-40B4-BE49-F238E27FC236}">
                <a16:creationId xmlns:a16="http://schemas.microsoft.com/office/drawing/2014/main" id="{E992E1F5-8C00-6EC5-8625-FFAB7C2B855E}"/>
              </a:ext>
            </a:extLst>
          </p:cNvPr>
          <p:cNvSpPr txBox="1"/>
          <p:nvPr/>
        </p:nvSpPr>
        <p:spPr>
          <a:xfrm>
            <a:off x="0" y="184984"/>
            <a:ext cx="6096000" cy="461665"/>
          </a:xfrm>
          <a:prstGeom prst="rect">
            <a:avLst/>
          </a:prstGeom>
          <a:noFill/>
        </p:spPr>
        <p:txBody>
          <a:bodyPr wrap="square">
            <a:spAutoFit/>
          </a:bodyPr>
          <a:lstStyle/>
          <a:p>
            <a:r>
              <a:rPr lang="en-IN" dirty="0"/>
              <a:t> </a:t>
            </a:r>
            <a:r>
              <a:rPr lang="en-IN" sz="2400" b="1" dirty="0">
                <a:latin typeface="Times New Roman" panose="02020603050405020304" pitchFamily="18" charset="0"/>
                <a:cs typeface="Times New Roman" panose="02020603050405020304" pitchFamily="18" charset="0"/>
              </a:rPr>
              <a:t>Which supplier provides the most products</a:t>
            </a:r>
            <a:r>
              <a:rPr lang="en-IN" dirty="0"/>
              <a:t>?</a:t>
            </a:r>
          </a:p>
        </p:txBody>
      </p:sp>
      <p:sp>
        <p:nvSpPr>
          <p:cNvPr id="14" name="TextBox 13">
            <a:extLst>
              <a:ext uri="{FF2B5EF4-FFF2-40B4-BE49-F238E27FC236}">
                <a16:creationId xmlns:a16="http://schemas.microsoft.com/office/drawing/2014/main" id="{06DB2255-6F7C-8AD1-8DE5-F67CBE116539}"/>
              </a:ext>
            </a:extLst>
          </p:cNvPr>
          <p:cNvSpPr txBox="1"/>
          <p:nvPr/>
        </p:nvSpPr>
        <p:spPr>
          <a:xfrm>
            <a:off x="95104" y="3502460"/>
            <a:ext cx="8173751"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What is the average price of products from each supplier?</a:t>
            </a:r>
          </a:p>
        </p:txBody>
      </p:sp>
      <p:pic>
        <p:nvPicPr>
          <p:cNvPr id="19" name="Picture 18">
            <a:extLst>
              <a:ext uri="{FF2B5EF4-FFF2-40B4-BE49-F238E27FC236}">
                <a16:creationId xmlns:a16="http://schemas.microsoft.com/office/drawing/2014/main" id="{181D9961-4F03-434A-FBB5-3FD4B95CC10F}"/>
              </a:ext>
            </a:extLst>
          </p:cNvPr>
          <p:cNvPicPr>
            <a:picLocks noChangeAspect="1"/>
          </p:cNvPicPr>
          <p:nvPr/>
        </p:nvPicPr>
        <p:blipFill>
          <a:blip r:embed="rId3"/>
          <a:stretch>
            <a:fillRect/>
          </a:stretch>
        </p:blipFill>
        <p:spPr>
          <a:xfrm>
            <a:off x="487332" y="807901"/>
            <a:ext cx="6457950" cy="2085975"/>
          </a:xfrm>
          <a:prstGeom prst="rect">
            <a:avLst/>
          </a:prstGeom>
        </p:spPr>
      </p:pic>
      <p:pic>
        <p:nvPicPr>
          <p:cNvPr id="21" name="Picture 20">
            <a:extLst>
              <a:ext uri="{FF2B5EF4-FFF2-40B4-BE49-F238E27FC236}">
                <a16:creationId xmlns:a16="http://schemas.microsoft.com/office/drawing/2014/main" id="{13971B53-A479-561A-EC49-A59D2C32A784}"/>
              </a:ext>
            </a:extLst>
          </p:cNvPr>
          <p:cNvPicPr>
            <a:picLocks noChangeAspect="1"/>
          </p:cNvPicPr>
          <p:nvPr/>
        </p:nvPicPr>
        <p:blipFill>
          <a:blip r:embed="rId4"/>
          <a:stretch>
            <a:fillRect/>
          </a:stretch>
        </p:blipFill>
        <p:spPr>
          <a:xfrm>
            <a:off x="95104" y="4175828"/>
            <a:ext cx="8672409" cy="1182053"/>
          </a:xfrm>
          <a:prstGeom prst="rect">
            <a:avLst/>
          </a:prstGeom>
        </p:spPr>
      </p:pic>
      <p:pic>
        <p:nvPicPr>
          <p:cNvPr id="23" name="Picture 22">
            <a:extLst>
              <a:ext uri="{FF2B5EF4-FFF2-40B4-BE49-F238E27FC236}">
                <a16:creationId xmlns:a16="http://schemas.microsoft.com/office/drawing/2014/main" id="{7549601D-81C9-CCB0-F7A4-52B6E9BB0138}"/>
              </a:ext>
            </a:extLst>
          </p:cNvPr>
          <p:cNvPicPr>
            <a:picLocks noChangeAspect="1"/>
          </p:cNvPicPr>
          <p:nvPr/>
        </p:nvPicPr>
        <p:blipFill>
          <a:blip r:embed="rId5"/>
          <a:stretch>
            <a:fillRect/>
          </a:stretch>
        </p:blipFill>
        <p:spPr>
          <a:xfrm>
            <a:off x="8140321" y="3502460"/>
            <a:ext cx="3575555" cy="2605739"/>
          </a:xfrm>
          <a:prstGeom prst="rect">
            <a:avLst/>
          </a:prstGeom>
        </p:spPr>
      </p:pic>
      <p:pic>
        <p:nvPicPr>
          <p:cNvPr id="25" name="Picture 24">
            <a:extLst>
              <a:ext uri="{FF2B5EF4-FFF2-40B4-BE49-F238E27FC236}">
                <a16:creationId xmlns:a16="http://schemas.microsoft.com/office/drawing/2014/main" id="{1BECE9F0-20F6-2BE4-0DBF-560CD8E4E8DF}"/>
              </a:ext>
            </a:extLst>
          </p:cNvPr>
          <p:cNvPicPr>
            <a:picLocks noChangeAspect="1"/>
          </p:cNvPicPr>
          <p:nvPr/>
        </p:nvPicPr>
        <p:blipFill>
          <a:blip r:embed="rId6"/>
          <a:stretch>
            <a:fillRect/>
          </a:stretch>
        </p:blipFill>
        <p:spPr>
          <a:xfrm>
            <a:off x="6454877" y="1214955"/>
            <a:ext cx="5675132" cy="1250453"/>
          </a:xfrm>
          <a:prstGeom prst="rect">
            <a:avLst/>
          </a:prstGeom>
        </p:spPr>
      </p:pic>
    </p:spTree>
    <p:extLst>
      <p:ext uri="{BB962C8B-B14F-4D97-AF65-F5344CB8AC3E}">
        <p14:creationId xmlns:p14="http://schemas.microsoft.com/office/powerpoint/2010/main" val="1403821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2" name="Rectangle 1"/>
          <p:cNvSpPr/>
          <p:nvPr/>
        </p:nvSpPr>
        <p:spPr>
          <a:xfrm>
            <a:off x="0" y="229857"/>
            <a:ext cx="8081058" cy="400110"/>
          </a:xfrm>
          <a:prstGeom prst="rect">
            <a:avLst/>
          </a:prstGeom>
        </p:spPr>
        <p:txBody>
          <a:bodyPr wrap="none">
            <a:spAutoFit/>
          </a:bodyPr>
          <a:lstStyle/>
          <a:p>
            <a:r>
              <a:rPr lang="en-GB" sz="2000" b="1" dirty="0">
                <a:latin typeface="Times New Roman" panose="02020603050405020304" pitchFamily="18" charset="0"/>
                <a:cs typeface="Times New Roman" panose="02020603050405020304" pitchFamily="18" charset="0"/>
              </a:rPr>
              <a:t>Which suppliers contribute the most to total product sales (by revenue)</a:t>
            </a:r>
            <a:r>
              <a:rPr lang="en-US" sz="2000" b="1"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AC4292FD-E3FC-5184-2378-4FE1D88A745F}"/>
              </a:ext>
            </a:extLst>
          </p:cNvPr>
          <p:cNvSpPr txBox="1"/>
          <p:nvPr/>
        </p:nvSpPr>
        <p:spPr>
          <a:xfrm>
            <a:off x="0" y="3133070"/>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 Employee Performance </a:t>
            </a:r>
          </a:p>
        </p:txBody>
      </p:sp>
      <p:sp>
        <p:nvSpPr>
          <p:cNvPr id="12" name="TextBox 11">
            <a:extLst>
              <a:ext uri="{FF2B5EF4-FFF2-40B4-BE49-F238E27FC236}">
                <a16:creationId xmlns:a16="http://schemas.microsoft.com/office/drawing/2014/main" id="{CBFDF47E-C461-E815-3E89-A8D2C85A20B6}"/>
              </a:ext>
            </a:extLst>
          </p:cNvPr>
          <p:cNvSpPr txBox="1"/>
          <p:nvPr/>
        </p:nvSpPr>
        <p:spPr>
          <a:xfrm>
            <a:off x="0" y="3594735"/>
            <a:ext cx="614172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How many employees have processed orders?</a:t>
            </a:r>
          </a:p>
        </p:txBody>
      </p:sp>
      <p:pic>
        <p:nvPicPr>
          <p:cNvPr id="14" name="Picture 13">
            <a:extLst>
              <a:ext uri="{FF2B5EF4-FFF2-40B4-BE49-F238E27FC236}">
                <a16:creationId xmlns:a16="http://schemas.microsoft.com/office/drawing/2014/main" id="{4D32CD24-C35C-1EF5-211E-0398C5B3CA4B}"/>
              </a:ext>
            </a:extLst>
          </p:cNvPr>
          <p:cNvPicPr>
            <a:picLocks noChangeAspect="1"/>
          </p:cNvPicPr>
          <p:nvPr/>
        </p:nvPicPr>
        <p:blipFill>
          <a:blip r:embed="rId3"/>
          <a:stretch>
            <a:fillRect/>
          </a:stretch>
        </p:blipFill>
        <p:spPr>
          <a:xfrm>
            <a:off x="629566" y="695656"/>
            <a:ext cx="5715000" cy="2371725"/>
          </a:xfrm>
          <a:prstGeom prst="rect">
            <a:avLst/>
          </a:prstGeom>
        </p:spPr>
      </p:pic>
      <p:pic>
        <p:nvPicPr>
          <p:cNvPr id="16" name="Picture 15">
            <a:extLst>
              <a:ext uri="{FF2B5EF4-FFF2-40B4-BE49-F238E27FC236}">
                <a16:creationId xmlns:a16="http://schemas.microsoft.com/office/drawing/2014/main" id="{D945F130-9480-7E8A-8471-DDED2B4DCAFB}"/>
              </a:ext>
            </a:extLst>
          </p:cNvPr>
          <p:cNvPicPr>
            <a:picLocks noChangeAspect="1"/>
          </p:cNvPicPr>
          <p:nvPr/>
        </p:nvPicPr>
        <p:blipFill>
          <a:blip r:embed="rId4"/>
          <a:stretch>
            <a:fillRect/>
          </a:stretch>
        </p:blipFill>
        <p:spPr>
          <a:xfrm>
            <a:off x="1" y="4518065"/>
            <a:ext cx="7349924" cy="609309"/>
          </a:xfrm>
          <a:prstGeom prst="rect">
            <a:avLst/>
          </a:prstGeom>
        </p:spPr>
      </p:pic>
      <p:pic>
        <p:nvPicPr>
          <p:cNvPr id="20" name="Picture 19">
            <a:extLst>
              <a:ext uri="{FF2B5EF4-FFF2-40B4-BE49-F238E27FC236}">
                <a16:creationId xmlns:a16="http://schemas.microsoft.com/office/drawing/2014/main" id="{C5E26233-E945-5ED0-C2F1-EBC134F4FEFA}"/>
              </a:ext>
            </a:extLst>
          </p:cNvPr>
          <p:cNvPicPr>
            <a:picLocks noChangeAspect="1"/>
          </p:cNvPicPr>
          <p:nvPr/>
        </p:nvPicPr>
        <p:blipFill>
          <a:blip r:embed="rId5"/>
          <a:stretch>
            <a:fillRect/>
          </a:stretch>
        </p:blipFill>
        <p:spPr>
          <a:xfrm>
            <a:off x="7502698" y="4210805"/>
            <a:ext cx="4471679" cy="1223828"/>
          </a:xfrm>
          <a:prstGeom prst="rect">
            <a:avLst/>
          </a:prstGeom>
        </p:spPr>
      </p:pic>
      <p:pic>
        <p:nvPicPr>
          <p:cNvPr id="22" name="Picture 21">
            <a:extLst>
              <a:ext uri="{FF2B5EF4-FFF2-40B4-BE49-F238E27FC236}">
                <a16:creationId xmlns:a16="http://schemas.microsoft.com/office/drawing/2014/main" id="{35F24D0D-6052-9A7A-6C95-181048FADC6F}"/>
              </a:ext>
            </a:extLst>
          </p:cNvPr>
          <p:cNvPicPr>
            <a:picLocks noChangeAspect="1"/>
          </p:cNvPicPr>
          <p:nvPr/>
        </p:nvPicPr>
        <p:blipFill>
          <a:blip r:embed="rId6"/>
          <a:stretch>
            <a:fillRect/>
          </a:stretch>
        </p:blipFill>
        <p:spPr>
          <a:xfrm>
            <a:off x="7502698" y="940822"/>
            <a:ext cx="4139400" cy="2192248"/>
          </a:xfrm>
          <a:prstGeom prst="rect">
            <a:avLst/>
          </a:prstGeom>
        </p:spPr>
      </p:pic>
    </p:spTree>
    <p:extLst>
      <p:ext uri="{BB962C8B-B14F-4D97-AF65-F5344CB8AC3E}">
        <p14:creationId xmlns:p14="http://schemas.microsoft.com/office/powerpoint/2010/main" val="2685063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F675312-3159-B0B4-DEA1-8A992B71699F}"/>
              </a:ext>
            </a:extLst>
          </p:cNvPr>
          <p:cNvSpPr txBox="1"/>
          <p:nvPr/>
        </p:nvSpPr>
        <p:spPr>
          <a:xfrm>
            <a:off x="179214" y="180813"/>
            <a:ext cx="1045464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Which employees have handled the most orders?</a:t>
            </a:r>
          </a:p>
        </p:txBody>
      </p:sp>
      <p:pic>
        <p:nvPicPr>
          <p:cNvPr id="9" name="Picture 8">
            <a:extLst>
              <a:ext uri="{FF2B5EF4-FFF2-40B4-BE49-F238E27FC236}">
                <a16:creationId xmlns:a16="http://schemas.microsoft.com/office/drawing/2014/main" id="{9609ABA9-B688-6555-8336-562989200D6B}"/>
              </a:ext>
            </a:extLst>
          </p:cNvPr>
          <p:cNvPicPr>
            <a:picLocks noChangeAspect="1"/>
          </p:cNvPicPr>
          <p:nvPr/>
        </p:nvPicPr>
        <p:blipFill>
          <a:blip r:embed="rId2"/>
          <a:stretch>
            <a:fillRect/>
          </a:stretch>
        </p:blipFill>
        <p:spPr>
          <a:xfrm>
            <a:off x="327564" y="748664"/>
            <a:ext cx="6705600" cy="1609725"/>
          </a:xfrm>
          <a:prstGeom prst="rect">
            <a:avLst/>
          </a:prstGeom>
        </p:spPr>
      </p:pic>
      <p:pic>
        <p:nvPicPr>
          <p:cNvPr id="11" name="Picture 10">
            <a:extLst>
              <a:ext uri="{FF2B5EF4-FFF2-40B4-BE49-F238E27FC236}">
                <a16:creationId xmlns:a16="http://schemas.microsoft.com/office/drawing/2014/main" id="{38F4B35B-FC0E-78FB-9EA3-1B36E46C9FF4}"/>
              </a:ext>
            </a:extLst>
          </p:cNvPr>
          <p:cNvPicPr>
            <a:picLocks noChangeAspect="1"/>
          </p:cNvPicPr>
          <p:nvPr/>
        </p:nvPicPr>
        <p:blipFill>
          <a:blip r:embed="rId3"/>
          <a:stretch>
            <a:fillRect/>
          </a:stretch>
        </p:blipFill>
        <p:spPr>
          <a:xfrm>
            <a:off x="7467829" y="534525"/>
            <a:ext cx="3954310" cy="3003547"/>
          </a:xfrm>
          <a:prstGeom prst="rect">
            <a:avLst/>
          </a:prstGeom>
        </p:spPr>
      </p:pic>
      <p:pic>
        <p:nvPicPr>
          <p:cNvPr id="12" name="Picture 11">
            <a:extLst>
              <a:ext uri="{FF2B5EF4-FFF2-40B4-BE49-F238E27FC236}">
                <a16:creationId xmlns:a16="http://schemas.microsoft.com/office/drawing/2014/main" id="{9F459965-E9B8-FD08-B6F7-4BEC9D65D8EA}"/>
              </a:ext>
            </a:extLst>
          </p:cNvPr>
          <p:cNvPicPr>
            <a:picLocks noChangeAspect="1"/>
          </p:cNvPicPr>
          <p:nvPr/>
        </p:nvPicPr>
        <p:blipFill>
          <a:blip r:embed="rId4"/>
          <a:stretch>
            <a:fillRect/>
          </a:stretch>
        </p:blipFill>
        <p:spPr>
          <a:xfrm>
            <a:off x="7467830" y="3723150"/>
            <a:ext cx="4100308" cy="2892465"/>
          </a:xfrm>
          <a:prstGeom prst="rect">
            <a:avLst/>
          </a:prstGeom>
        </p:spPr>
      </p:pic>
      <p:pic>
        <p:nvPicPr>
          <p:cNvPr id="13" name="Picture 12">
            <a:extLst>
              <a:ext uri="{FF2B5EF4-FFF2-40B4-BE49-F238E27FC236}">
                <a16:creationId xmlns:a16="http://schemas.microsoft.com/office/drawing/2014/main" id="{FA28958C-6715-B1F0-E171-0AE55BB126BE}"/>
              </a:ext>
            </a:extLst>
          </p:cNvPr>
          <p:cNvPicPr>
            <a:picLocks noChangeAspect="1"/>
          </p:cNvPicPr>
          <p:nvPr/>
        </p:nvPicPr>
        <p:blipFill>
          <a:blip r:embed="rId5"/>
          <a:stretch>
            <a:fillRect/>
          </a:stretch>
        </p:blipFill>
        <p:spPr>
          <a:xfrm>
            <a:off x="800702" y="3700965"/>
            <a:ext cx="5191125" cy="2914650"/>
          </a:xfrm>
          <a:prstGeom prst="rect">
            <a:avLst/>
          </a:prstGeom>
        </p:spPr>
      </p:pic>
      <p:sp>
        <p:nvSpPr>
          <p:cNvPr id="14" name="TextBox 13">
            <a:extLst>
              <a:ext uri="{FF2B5EF4-FFF2-40B4-BE49-F238E27FC236}">
                <a16:creationId xmlns:a16="http://schemas.microsoft.com/office/drawing/2014/main" id="{70571DD9-4C62-1F9A-4F47-1047154202E6}"/>
              </a:ext>
            </a:extLst>
          </p:cNvPr>
          <p:cNvSpPr txBox="1"/>
          <p:nvPr/>
        </p:nvSpPr>
        <p:spPr>
          <a:xfrm>
            <a:off x="0" y="3198167"/>
            <a:ext cx="873252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 What is the total sales value processed by each employee?</a:t>
            </a:r>
          </a:p>
        </p:txBody>
      </p:sp>
    </p:spTree>
    <p:extLst>
      <p:ext uri="{BB962C8B-B14F-4D97-AF65-F5344CB8AC3E}">
        <p14:creationId xmlns:p14="http://schemas.microsoft.com/office/powerpoint/2010/main" val="2371766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A403883-61CD-4E07-2D6E-69A8ABE17677}"/>
              </a:ext>
            </a:extLst>
          </p:cNvPr>
          <p:cNvSpPr txBox="1"/>
          <p:nvPr/>
        </p:nvSpPr>
        <p:spPr>
          <a:xfrm>
            <a:off x="0" y="133648"/>
            <a:ext cx="874776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What is the average order value handled per employee?</a:t>
            </a:r>
          </a:p>
        </p:txBody>
      </p:sp>
      <p:pic>
        <p:nvPicPr>
          <p:cNvPr id="9" name="Picture 8">
            <a:extLst>
              <a:ext uri="{FF2B5EF4-FFF2-40B4-BE49-F238E27FC236}">
                <a16:creationId xmlns:a16="http://schemas.microsoft.com/office/drawing/2014/main" id="{FBFCD4C7-EE30-177B-21F1-DF279820B1E4}"/>
              </a:ext>
            </a:extLst>
          </p:cNvPr>
          <p:cNvPicPr>
            <a:picLocks noChangeAspect="1"/>
          </p:cNvPicPr>
          <p:nvPr/>
        </p:nvPicPr>
        <p:blipFill>
          <a:blip r:embed="rId2"/>
          <a:stretch>
            <a:fillRect/>
          </a:stretch>
        </p:blipFill>
        <p:spPr>
          <a:xfrm>
            <a:off x="207625" y="1135474"/>
            <a:ext cx="10101074" cy="1989691"/>
          </a:xfrm>
          <a:prstGeom prst="rect">
            <a:avLst/>
          </a:prstGeom>
        </p:spPr>
      </p:pic>
      <p:pic>
        <p:nvPicPr>
          <p:cNvPr id="11" name="Picture 10">
            <a:extLst>
              <a:ext uri="{FF2B5EF4-FFF2-40B4-BE49-F238E27FC236}">
                <a16:creationId xmlns:a16="http://schemas.microsoft.com/office/drawing/2014/main" id="{F4D4E06C-16CE-CA21-A62F-4ECF17E4E5B9}"/>
              </a:ext>
            </a:extLst>
          </p:cNvPr>
          <p:cNvPicPr>
            <a:picLocks noChangeAspect="1"/>
          </p:cNvPicPr>
          <p:nvPr/>
        </p:nvPicPr>
        <p:blipFill>
          <a:blip r:embed="rId3"/>
          <a:stretch>
            <a:fillRect/>
          </a:stretch>
        </p:blipFill>
        <p:spPr>
          <a:xfrm>
            <a:off x="6096000" y="1851606"/>
            <a:ext cx="5945313" cy="4146731"/>
          </a:xfrm>
          <a:prstGeom prst="rect">
            <a:avLst/>
          </a:prstGeom>
        </p:spPr>
      </p:pic>
    </p:spTree>
    <p:extLst>
      <p:ext uri="{BB962C8B-B14F-4D97-AF65-F5344CB8AC3E}">
        <p14:creationId xmlns:p14="http://schemas.microsoft.com/office/powerpoint/2010/main" val="1860131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896741-F3FD-4C4A-36A6-27B322B7DBF0}"/>
              </a:ext>
            </a:extLst>
          </p:cNvPr>
          <p:cNvSpPr txBox="1"/>
          <p:nvPr/>
        </p:nvSpPr>
        <p:spPr>
          <a:xfrm>
            <a:off x="0" y="0"/>
            <a:ext cx="992124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 What is the average quantity ordered per product? </a:t>
            </a:r>
          </a:p>
        </p:txBody>
      </p:sp>
      <p:pic>
        <p:nvPicPr>
          <p:cNvPr id="9" name="Picture 8">
            <a:extLst>
              <a:ext uri="{FF2B5EF4-FFF2-40B4-BE49-F238E27FC236}">
                <a16:creationId xmlns:a16="http://schemas.microsoft.com/office/drawing/2014/main" id="{5EB77A47-AFCC-91FA-55CB-FDD14D01719D}"/>
              </a:ext>
            </a:extLst>
          </p:cNvPr>
          <p:cNvPicPr>
            <a:picLocks noChangeAspect="1"/>
          </p:cNvPicPr>
          <p:nvPr/>
        </p:nvPicPr>
        <p:blipFill>
          <a:blip r:embed="rId2"/>
          <a:stretch>
            <a:fillRect/>
          </a:stretch>
        </p:blipFill>
        <p:spPr>
          <a:xfrm>
            <a:off x="7825103" y="930515"/>
            <a:ext cx="3790480" cy="4760251"/>
          </a:xfrm>
          <a:prstGeom prst="rect">
            <a:avLst/>
          </a:prstGeom>
        </p:spPr>
      </p:pic>
      <p:pic>
        <p:nvPicPr>
          <p:cNvPr id="11" name="Picture 10">
            <a:extLst>
              <a:ext uri="{FF2B5EF4-FFF2-40B4-BE49-F238E27FC236}">
                <a16:creationId xmlns:a16="http://schemas.microsoft.com/office/drawing/2014/main" id="{57696F10-E4A0-3135-DB5E-7A348EBD247A}"/>
              </a:ext>
            </a:extLst>
          </p:cNvPr>
          <p:cNvPicPr>
            <a:picLocks noChangeAspect="1"/>
          </p:cNvPicPr>
          <p:nvPr/>
        </p:nvPicPr>
        <p:blipFill>
          <a:blip r:embed="rId3"/>
          <a:stretch>
            <a:fillRect/>
          </a:stretch>
        </p:blipFill>
        <p:spPr>
          <a:xfrm>
            <a:off x="576417" y="1613422"/>
            <a:ext cx="7154777" cy="1384422"/>
          </a:xfrm>
          <a:prstGeom prst="rect">
            <a:avLst/>
          </a:prstGeom>
        </p:spPr>
      </p:pic>
    </p:spTree>
    <p:extLst>
      <p:ext uri="{BB962C8B-B14F-4D97-AF65-F5344CB8AC3E}">
        <p14:creationId xmlns:p14="http://schemas.microsoft.com/office/powerpoint/2010/main" val="2382493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69D0A-A958-9551-EAE6-D2129FACDA1C}"/>
              </a:ext>
            </a:extLst>
          </p:cNvPr>
          <p:cNvSpPr>
            <a:spLocks noGrp="1"/>
          </p:cNvSpPr>
          <p:nvPr>
            <p:ph type="title"/>
          </p:nvPr>
        </p:nvSpPr>
        <p:spPr/>
        <p:txBody>
          <a:bodyPr>
            <a:normAutofit/>
          </a:bodyPr>
          <a:lstStyle/>
          <a:p>
            <a:r>
              <a:rPr lang="en-US" sz="4000" b="1" dirty="0"/>
              <a:t>Final  insights and recommendations</a:t>
            </a:r>
            <a:endParaRPr lang="en-GB" sz="4000" b="1" dirty="0"/>
          </a:p>
        </p:txBody>
      </p:sp>
      <p:sp>
        <p:nvSpPr>
          <p:cNvPr id="4" name="TextBox 3">
            <a:extLst>
              <a:ext uri="{FF2B5EF4-FFF2-40B4-BE49-F238E27FC236}">
                <a16:creationId xmlns:a16="http://schemas.microsoft.com/office/drawing/2014/main" id="{5F74E199-E5A9-29AB-57AE-448609564E3A}"/>
              </a:ext>
            </a:extLst>
          </p:cNvPr>
          <p:cNvSpPr txBox="1"/>
          <p:nvPr/>
        </p:nvSpPr>
        <p:spPr>
          <a:xfrm>
            <a:off x="991564" y="1608882"/>
            <a:ext cx="8661722" cy="3865944"/>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GB" sz="2000" dirty="0"/>
              <a:t>Keep more stock of fast-selling products and reduce items that don’t sell much.</a:t>
            </a:r>
          </a:p>
          <a:p>
            <a:pPr marL="342900" indent="-342900">
              <a:lnSpc>
                <a:spcPct val="150000"/>
              </a:lnSpc>
              <a:buFont typeface="Wingdings" panose="05000000000000000000" pitchFamily="2" charset="2"/>
              <a:buChar char="q"/>
            </a:pPr>
            <a:r>
              <a:rPr lang="en-GB" sz="2000" dirty="0"/>
              <a:t>Work closely with the suppliers who give the best products and bring in most sales.</a:t>
            </a:r>
          </a:p>
          <a:p>
            <a:pPr marL="342900" indent="-342900">
              <a:lnSpc>
                <a:spcPct val="150000"/>
              </a:lnSpc>
              <a:buFont typeface="Wingdings" panose="05000000000000000000" pitchFamily="2" charset="2"/>
              <a:buChar char="q"/>
            </a:pPr>
            <a:r>
              <a:rPr lang="en-GB" sz="2000" dirty="0"/>
              <a:t>Fix price differences by keeping product prices more stable.</a:t>
            </a:r>
          </a:p>
          <a:p>
            <a:pPr marL="342900" indent="-342900">
              <a:lnSpc>
                <a:spcPct val="150000"/>
              </a:lnSpc>
              <a:buFont typeface="Wingdings" panose="05000000000000000000" pitchFamily="2" charset="2"/>
              <a:buChar char="q"/>
            </a:pPr>
            <a:r>
              <a:rPr lang="en-GB" sz="2000" dirty="0"/>
              <a:t>Share work more evenly among employees so no one gets over loaded.</a:t>
            </a:r>
          </a:p>
          <a:p>
            <a:pPr marL="342900" indent="-342900">
              <a:lnSpc>
                <a:spcPct val="150000"/>
              </a:lnSpc>
              <a:buFont typeface="Wingdings" panose="05000000000000000000" pitchFamily="2" charset="2"/>
              <a:buChar char="q"/>
            </a:pPr>
            <a:r>
              <a:rPr lang="en-GB" sz="2000" dirty="0"/>
              <a:t>Give special offers or rewards to regular customers to keep them coming back.</a:t>
            </a:r>
            <a:endParaRPr lang="en-IN" sz="2000" dirty="0"/>
          </a:p>
        </p:txBody>
      </p:sp>
    </p:spTree>
    <p:extLst>
      <p:ext uri="{BB962C8B-B14F-4D97-AF65-F5344CB8AC3E}">
        <p14:creationId xmlns:p14="http://schemas.microsoft.com/office/powerpoint/2010/main" val="2268939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329699" y="892756"/>
            <a:ext cx="7296912"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6D0EF798-1544-7CC4-5186-E8F571AB1730}"/>
              </a:ext>
            </a:extLst>
          </p:cNvPr>
          <p:cNvSpPr txBox="1"/>
          <p:nvPr/>
        </p:nvSpPr>
        <p:spPr>
          <a:xfrm>
            <a:off x="1329699" y="1849844"/>
            <a:ext cx="7617531" cy="280698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sales come from a few loyal customers and popular products.</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Only some suppliers provide the items that sell the most.</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Employees handle different amounts of work, with a few doing most of the orders.</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store can improve by managing stock better, working closely with good suppliers, and rewarding regular customers.</a:t>
            </a:r>
          </a:p>
        </p:txBody>
      </p:sp>
    </p:spTree>
    <p:extLst>
      <p:ext uri="{BB962C8B-B14F-4D97-AF65-F5344CB8AC3E}">
        <p14:creationId xmlns:p14="http://schemas.microsoft.com/office/powerpoint/2010/main" val="508292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907</TotalTime>
  <Words>788</Words>
  <Application>Microsoft Office PowerPoint</Application>
  <PresentationFormat>Widescreen</PresentationFormat>
  <Paragraphs>66</Paragraphs>
  <Slides>26</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Comic Sans MS</vt:lpstr>
      <vt:lpstr>Libre Baskerville</vt:lpstr>
      <vt:lpstr>Times New Roman</vt:lpstr>
      <vt:lpstr>Lato Black</vt:lpstr>
      <vt:lpstr>Calibri</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Final  insights and recommendations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Amrutha Sai Yarragodala</cp:lastModifiedBy>
  <cp:revision>24</cp:revision>
  <dcterms:created xsi:type="dcterms:W3CDTF">2021-02-16T05:19:01Z</dcterms:created>
  <dcterms:modified xsi:type="dcterms:W3CDTF">2025-12-01T10:18:22Z</dcterms:modified>
</cp:coreProperties>
</file>